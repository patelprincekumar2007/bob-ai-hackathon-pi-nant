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slide. Team PI-NANT presenting SmartRoute AI for the IBM Bob AI Innovation Hackathon 2026. This is an AI-powered supply chain control tower.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problem dimensions that SmartRoute AI addresses. No numerical claims — all statements are qualitative and supportable from the project documentation.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SmartRoute AI centralises six capabilities that currently require separate tools: disruption detection, risk scoring, route recommendation, fleet utilisation, cold-chain monitoring, and AI-generated explanations. All driven by IBM watsonx.ai and accessible via IBM Bob MCP tools.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eight-step pipeline. Steps 1-4 run left column (data → detection → scoring → routing). Steps 5-8 run right column (fleet → cold-chain → AI → output). Everything feeds into the Streamlit dashboard or is accessible via the IBM Bob MCP server.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Three-layer architecture. Interface: Streamlit (human) and MCP Server (IBM Bob). Core: six Python modules in src/core/. Data: four JSON files — no database required. watsonx.ai sits alongside the core engine and is called only for AI explanations; a mock fallback ensures the app runs without credentials.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Eight implemented features across the three parts. All features are backed by real Python code and tested with 191 pytest tests. The MCP server exposes 7 tools that IBM Bob can call in natural language.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screenshots from the running application. All data is from the pre-populated mock JSON files. No credentials needed to run in demo mode.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distinction: IBM Bob is the AI development and SDLC partner and the MCP interaction layer. watsonx.ai is the AI inference runtime for explanations. IBM Bob does NOT call watsonx.ai directly — it calls our MCP tool explain_shipment, which calls watsonx_client.py, which calls the watsonx.ai API (or mock fallback). Two clearly separated roles.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benefits, not measured metrics. The innovation is simplicity: the entire system runs with pip install and one command. The IBM Bob MCP integration is load-bearing — it's not a name-drop; every tool calls the real project functions.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script: 1) Home Dashboard — risk gauge, KPI tiles, disruption count. 2) Select SHP-002 — carrier, route, cargo type, ETA. 3) Risk Analysis — HIGH score with per-factor breakdown showing cold-chain + disruption contributions. 4) Disruption — CRITICAL severity filter, SHP-002 affected badge. 5) Route/Vehicle Recommendation — ranked alternatives, best-fit vehicle matched to cargo. 6) Cold Chain — CRITICAL excursion alert on SHP-002, temperature deviation. 7) AI Explanation — IBM Bob calls the explain_shipment MCP tool; watsonx.ai (NOT Bob itself) returns a plain-English risk summary. Key clarification for judges: IBM Bob is the SDLC partner and MCP interaction layer. watsonx.ai is the separate AI inference runtime.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Accent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 lang="en-US">
              <a:solidFill>
                <a:srgbClr val="2D7DD2"/>
              </a:solidFill>
            </a:endParaRPr>
          </a:p>
        </p:txBody>
      </p:sp>
      <p:sp>
        <p:nvSpPr>
          <p:cNvPr id="100001" name="TitleMain"/>
          <p:cNvSpPr txBox="1"/>
          <p:nvPr/>
        </p:nvSpPr>
        <p:spPr>
          <a:xfrm>
            <a:off x="720000" y="900000"/>
            <a:ext cx="10800000" cy="1260000"/>
          </a:xfrm>
          <a:prstGeom prst="rect">
            <a:avLst/>
          </a:prstGeom>
        </p:spPr>
        <p:txBody>
          <a:bodyPr/>
          <a:lstStyle/>
          <a:p>
            <a:r>
              <a:rPr lang="en-US" sz="6000" b="1">
                <a:solidFill>
                  <a:srgbClr val="FFFFFF"/>
                </a:solidFill>
                <a:latin typeface="Calibri"/>
                <a:ea typeface="Calibri"/>
              </a:rPr>
              <a:t>SmartRoute AI</a:t>
            </a:r>
          </a:p>
        </p:txBody>
      </p:sp>
      <p:sp>
        <p:nvSpPr>
          <p:cNvPr id="100002" name="TitleSub"/>
          <p:cNvSpPr txBox="1"/>
          <p:nvPr/>
        </p:nvSpPr>
        <p:spPr>
          <a:xfrm>
            <a:off x="720000" y="21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2400" b="0">
                <a:solidFill>
                  <a:srgbClr val="7EC8E3"/>
                </a:solidFill>
                <a:latin typeface="Calibri"/>
                <a:ea typeface="Calibri"/>
              </a:rPr>
              <a:t>Supply Chain Disruption Assistant &amp; Fleet Utilisation Optimizer</a:t>
            </a:r>
          </a:p>
        </p:txBody>
      </p:sp>
      <p:sp>
        <p:nvSpPr>
          <p:cNvPr id="100003" name="Divider"/>
          <p:cNvSpPr txBox="1"/>
          <p:nvPr/>
        </p:nvSpPr>
        <p:spPr>
          <a:xfrm>
            <a:off x="720000" y="2952000"/>
            <a:ext cx="4320000" cy="3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 lang="en-US">
              <a:solidFill>
                <a:srgbClr val="2D7DD2"/>
              </a:solidFill>
            </a:endParaRPr>
          </a:p>
        </p:txBody>
      </p:sp>
      <p:sp>
        <p:nvSpPr>
          <p:cNvPr id="100004" name="HackathonLabel"/>
          <p:cNvSpPr txBox="1"/>
          <p:nvPr/>
        </p:nvSpPr>
        <p:spPr>
          <a:xfrm>
            <a:off x="720000" y="3096000"/>
            <a:ext cx="8640000" cy="288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A0B4C8"/>
                </a:solidFill>
                <a:latin typeface="Calibri"/>
                <a:ea typeface="Calibri"/>
              </a:rPr>
              <a:t>IBM Bob AI Innovation Hackathon 2026</a:t>
            </a:r>
          </a:p>
        </p:txBody>
      </p:sp>
      <p:sp>
        <p:nvSpPr>
          <p:cNvPr id="100005" name="TeamLabel"/>
          <p:cNvSpPr txBox="1"/>
          <p:nvPr/>
        </p:nvSpPr>
        <p:spPr>
          <a:xfrm>
            <a:off x="720000" y="3492000"/>
            <a:ext cx="4320000" cy="288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Team PI-NANT</a:t>
            </a:r>
          </a:p>
        </p:txBody>
      </p:sp>
      <p:sp>
        <p:nvSpPr>
          <p:cNvPr id="100006" name="TeamMembers"/>
          <p:cNvSpPr txBox="1"/>
          <p:nvPr/>
        </p:nvSpPr>
        <p:spPr>
          <a:xfrm>
            <a:off x="720000" y="3780000"/>
            <a:ext cx="10080000" cy="252000"/>
          </a:xfrm>
          <a:prstGeom prst="rect">
            <a:avLst/>
          </a:prstGeom>
        </p:spPr>
        <p:txBody>
          <a:bodyPr/>
          <a:lstStyle/>
          <a:p>
            <a:r>
              <a:rPr lang="en-US" sz="1500" b="0">
                <a:solidFill>
                  <a:srgbClr val="A0B4C8"/>
                </a:solidFill>
                <a:latin typeface="Calibri"/>
                <a:ea typeface="Calibri"/>
              </a:rPr>
              <a:t>Kashyap Nasit  |  Patel Princekumar  |  Patel Rudrakumar</a:t>
            </a:r>
          </a:p>
        </p:txBody>
      </p:sp>
      <p:sp>
        <p:nvSpPr>
          <p:cNvPr id="100007" name="Node1"/>
          <p:cNvSpPr txBox="1"/>
          <p:nvPr/>
        </p:nvSpPr>
        <p:spPr>
          <a:xfrm>
            <a:off x="9000000" y="1008000"/>
            <a:ext cx="1260000" cy="64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Port</a:t>
            </a:r>
          </a:p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Congestion</a:t>
            </a:r>
          </a:p>
        </p:txBody>
      </p:sp>
      <p:sp>
        <p:nvSpPr>
          <p:cNvPr id="100008" name="Node2"/>
          <p:cNvSpPr txBox="1"/>
          <p:nvPr/>
        </p:nvSpPr>
        <p:spPr>
          <a:xfrm>
            <a:off x="10440000" y="1728000"/>
            <a:ext cx="1260000" cy="64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Weather</a:t>
            </a:r>
          </a:p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Alert</a:t>
            </a:r>
          </a:p>
        </p:txBody>
      </p:sp>
      <p:sp>
        <p:nvSpPr>
          <p:cNvPr id="100009" name="Node3"/>
          <p:cNvSpPr txBox="1"/>
          <p:nvPr/>
        </p:nvSpPr>
        <p:spPr>
          <a:xfrm>
            <a:off x="9000000" y="2448000"/>
            <a:ext cx="1260000" cy="64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Vessel</a:t>
            </a:r>
          </a:p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Failure</a:t>
            </a:r>
          </a:p>
        </p:txBody>
      </p:sp>
      <p:sp>
        <p:nvSpPr>
          <p:cNvPr id="100010" name="NodeCenter"/>
          <p:cNvSpPr txBox="1"/>
          <p:nvPr/>
        </p:nvSpPr>
        <p:spPr>
          <a:xfrm>
            <a:off x="9720000" y="1440000"/>
            <a:ext cx="1080000" cy="57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Shipment</a:t>
            </a:r>
          </a:p>
          <a:p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12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The Problem</a:t>
            </a:r>
          </a:p>
        </p:txBody>
      </p:sp>
      <p:sp>
        <p:nvSpPr>
          <p:cNvPr id="100013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4" name="SubHead"/>
          <p:cNvSpPr txBox="1"/>
          <p:nvPr/>
        </p:nvSpPr>
        <p:spPr>
          <a:xfrm>
            <a:off x="720000" y="720000"/>
            <a:ext cx="10800000" cy="324000"/>
          </a:xfrm>
          <a:prstGeom prst="rect">
            <a:avLst/>
          </a:prstGeom>
        </p:spPr>
        <p:txBody>
          <a:bodyPr/>
          <a:lstStyle/>
          <a:p>
            <a:r>
              <a:rPr lang="en-US" sz="1700" b="0">
                <a:solidFill>
                  <a:srgbClr val="7EC8E3"/>
                </a:solidFill>
                <a:latin typeface="Calibri"/>
                <a:ea typeface="Calibri"/>
              </a:rPr>
              <a:t>Supply chains are complex, disruptions are constant, and manual response is too slow.</a:t>
            </a:r>
          </a:p>
        </p:txBody>
      </p:sp>
      <p:sp>
        <p:nvSpPr>
          <p:cNvPr id="100015" name="Card1"/>
          <p:cNvSpPr txBox="1"/>
          <p:nvPr/>
        </p:nvSpPr>
        <p:spPr>
          <a:xfrm>
            <a:off x="540000" y="1188000"/>
            <a:ext cx="324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Port Congestion</a:t>
            </a:r>
          </a:p>
          <a:p>
            <a:endParaRPr lang="en-US" sz="14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Port congestion can block shipping lanes and delay deliveries.</a:t>
            </a:r>
          </a:p>
        </p:txBody>
      </p:sp>
      <p:sp>
        <p:nvSpPr>
          <p:cNvPr id="100016" name="Card2"/>
          <p:cNvSpPr txBox="1"/>
          <p:nvPr/>
        </p:nvSpPr>
        <p:spPr>
          <a:xfrm>
            <a:off x="4032000" y="1188000"/>
            <a:ext cx="324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Extreme Weather</a:t>
            </a:r>
          </a:p>
          <a:p>
            <a:endParaRPr lang="en-US" sz="14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Cyclones and storms force route diversions adding days and cost.</a:t>
            </a:r>
          </a:p>
        </p:txBody>
      </p:sp>
      <p:sp>
        <p:nvSpPr>
          <p:cNvPr id="100017" name="Card3"/>
          <p:cNvSpPr txBox="1"/>
          <p:nvPr/>
        </p:nvSpPr>
        <p:spPr>
          <a:xfrm>
            <a:off x="7524000" y="1188000"/>
            <a:ext cx="324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Vessel Failures</a:t>
            </a:r>
          </a:p>
          <a:p>
            <a:endParaRPr lang="en-US" sz="14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Vessel failures can strand cargo and cause significant delays.</a:t>
            </a:r>
          </a:p>
        </p:txBody>
      </p:sp>
      <p:sp>
        <p:nvSpPr>
          <p:cNvPr id="100018" name="Card4"/>
          <p:cNvSpPr txBox="1"/>
          <p:nvPr/>
        </p:nvSpPr>
        <p:spPr>
          <a:xfrm>
            <a:off x="540000" y="2988000"/>
            <a:ext cx="324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Cold-Chain Risk</a:t>
            </a:r>
          </a:p>
          <a:p>
            <a:endParaRPr lang="en-US" sz="14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Temperature excursions can damage pharmaceutical and perishable cargo.</a:t>
            </a:r>
          </a:p>
        </p:txBody>
      </p:sp>
      <p:sp>
        <p:nvSpPr>
          <p:cNvPr id="100019" name="Card5"/>
          <p:cNvSpPr txBox="1"/>
          <p:nvPr/>
        </p:nvSpPr>
        <p:spPr>
          <a:xfrm>
            <a:off x="4032000" y="2988000"/>
            <a:ext cx="324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Fleet Under-Utilisation</a:t>
            </a:r>
          </a:p>
          <a:p>
            <a:endParaRPr lang="en-US" sz="14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Vessels sit idle while disrupted routes have no available cover.</a:t>
            </a:r>
          </a:p>
        </p:txBody>
      </p:sp>
      <p:sp>
        <p:nvSpPr>
          <p:cNvPr id="100020" name="Card6"/>
          <p:cNvSpPr txBox="1"/>
          <p:nvPr/>
        </p:nvSpPr>
        <p:spPr>
          <a:xfrm>
            <a:off x="7524000" y="2988000"/>
            <a:ext cx="3240000" cy="1260000"/>
          </a:xfrm>
          <a:prstGeom prst="rect">
            <a:avLst/>
          </a:prstGeom>
          <a:solidFill>
            <a:srgbClr val="1A0A08"/>
          </a:solidFill>
        </p:spPr>
        <p:txBody>
          <a:bodyPr/>
          <a:lstStyle/>
          <a:p>
            <a:r>
              <a:rPr lang="en-US" sz="1400" b="0">
                <a:solidFill>
                  <a:srgbClr val="C0392B"/>
                </a:solidFill>
                <a:latin typeface="Calibri"/>
                <a:ea typeface="Calibri"/>
              </a:rPr>
              <a:t>Manual Response</a:t>
            </a:r>
          </a:p>
          <a:p>
            <a:endParaRPr lang="en-US" sz="1400" b="0">
              <a:solidFill>
                <a:srgbClr val="C0392B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C0392B"/>
                </a:solidFill>
                <a:latin typeface="Calibri"/>
                <a:ea typeface="Calibri"/>
              </a:rPr>
              <a:t>Rerouting across carrier portals takes hours — often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22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Our Solution</a:t>
            </a:r>
          </a:p>
        </p:txBody>
      </p:sp>
      <p:sp>
        <p:nvSpPr>
          <p:cNvPr id="100023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4" name="CenterBox"/>
          <p:cNvSpPr txBox="1"/>
          <p:nvPr/>
        </p:nvSpPr>
        <p:spPr>
          <a:xfrm>
            <a:off x="4320000" y="1872000"/>
            <a:ext cx="3600000" cy="720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SmartRoute AI</a:t>
            </a:r>
          </a:p>
        </p:txBody>
      </p:sp>
      <p:sp>
        <p:nvSpPr>
          <p:cNvPr id="100025" name="FeatureRisk"/>
          <p:cNvSpPr txBox="1"/>
          <p:nvPr/>
        </p:nvSpPr>
        <p:spPr>
          <a:xfrm>
            <a:off x="288000" y="720000"/>
            <a:ext cx="306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Risk Scoring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0-100 with CRITICAL/HIGH/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MEDIUM/LOW classification</a:t>
            </a:r>
          </a:p>
        </p:txBody>
      </p:sp>
      <p:sp>
        <p:nvSpPr>
          <p:cNvPr id="100026" name="FeatureDisruption"/>
          <p:cNvSpPr txBox="1"/>
          <p:nvPr/>
        </p:nvSpPr>
        <p:spPr>
          <a:xfrm>
            <a:off x="288000" y="2160000"/>
            <a:ext cx="306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Disruption Detection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Port, weather, strike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and vessel events</a:t>
            </a:r>
          </a:p>
        </p:txBody>
      </p:sp>
      <p:sp>
        <p:nvSpPr>
          <p:cNvPr id="100027" name="FeatureRoute"/>
          <p:cNvSpPr txBox="1"/>
          <p:nvPr/>
        </p:nvSpPr>
        <p:spPr>
          <a:xfrm>
            <a:off x="8820000" y="720000"/>
            <a:ext cx="306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Route Recommendation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Alternatives with delay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and cost estimates</a:t>
            </a:r>
          </a:p>
        </p:txBody>
      </p:sp>
      <p:sp>
        <p:nvSpPr>
          <p:cNvPr id="100028" name="FeatureFleet"/>
          <p:cNvSpPr txBox="1"/>
          <p:nvPr/>
        </p:nvSpPr>
        <p:spPr>
          <a:xfrm>
            <a:off x="8820000" y="2160000"/>
            <a:ext cx="3060000" cy="126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Fleet Optimisation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Vehicle availability,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utilisation metrics</a:t>
            </a:r>
          </a:p>
        </p:txBody>
      </p:sp>
      <p:sp>
        <p:nvSpPr>
          <p:cNvPr id="100029" name="FeatureColdChain"/>
          <p:cNvSpPr txBox="1"/>
          <p:nvPr/>
        </p:nvSpPr>
        <p:spPr>
          <a:xfrm>
            <a:off x="3240000" y="3348000"/>
            <a:ext cx="2880000" cy="108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Cold-Chain Monitor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Excursion detection,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temperature risk scoring</a:t>
            </a:r>
          </a:p>
        </p:txBody>
      </p:sp>
      <p:sp>
        <p:nvSpPr>
          <p:cNvPr id="100030" name="FeatureAI"/>
          <p:cNvSpPr txBox="1"/>
          <p:nvPr/>
        </p:nvSpPr>
        <p:spPr>
          <a:xfrm>
            <a:off x="6300000" y="3348000"/>
            <a:ext cx="2880000" cy="108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AI Explanations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watsonx.ai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 13B Instruct</a:t>
            </a:r>
          </a:p>
        </p:txBody>
      </p:sp>
      <p:sp>
        <p:nvSpPr>
          <p:cNvPr id="100031" name="TagLine"/>
          <p:cNvSpPr txBox="1"/>
          <p:nvPr/>
        </p:nvSpPr>
        <p:spPr>
          <a:xfrm>
            <a:off x="720000" y="4680000"/>
            <a:ext cx="10800000" cy="288000"/>
          </a:xfrm>
          <a:prstGeom prst="rect">
            <a:avLst/>
          </a:prstGeom>
        </p:spPr>
        <p:txBody>
          <a:bodyPr/>
          <a:lstStyle/>
          <a:p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One dashboard. Every affected shipment surfaced, scored, and routed —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33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How It Works</a:t>
            </a:r>
          </a:p>
        </p:txBody>
      </p:sp>
      <p:sp>
        <p:nvSpPr>
          <p:cNvPr id="100034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35" name="Step1"/>
          <p:cNvSpPr txBox="1"/>
          <p:nvPr/>
        </p:nvSpPr>
        <p:spPr>
          <a:xfrm>
            <a:off x="540000" y="8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Shipment Data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Loaded from JSON records — origin, destination, carrier, ETA, cargo type</a:t>
            </a:r>
          </a:p>
        </p:txBody>
      </p:sp>
      <p:sp>
        <p:nvSpPr>
          <p:cNvPr id="100036" name="Step2"/>
          <p:cNvSpPr txBox="1"/>
          <p:nvPr/>
        </p:nvSpPr>
        <p:spPr>
          <a:xfrm>
            <a:off x="540000" y="17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Disruption Detection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Matches active port/weather/strike/vessel events to each shipment</a:t>
            </a:r>
          </a:p>
        </p:txBody>
      </p:sp>
      <p:sp>
        <p:nvSpPr>
          <p:cNvPr id="100037" name="Step3"/>
          <p:cNvSpPr txBox="1"/>
          <p:nvPr/>
        </p:nvSpPr>
        <p:spPr>
          <a:xfrm>
            <a:off x="540000" y="2664000"/>
            <a:ext cx="4860000" cy="792000"/>
          </a:xfrm>
          <a:prstGeom prst="rect">
            <a:avLst/>
          </a:prstGeom>
          <a:solidFill>
            <a:srgbClr val="122040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Risk Engine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5-factor scoring: disruption severity, delay, deadline, priority, cold-chain</a:t>
            </a:r>
          </a:p>
        </p:txBody>
      </p:sp>
      <p:sp>
        <p:nvSpPr>
          <p:cNvPr id="100038" name="Step4"/>
          <p:cNvSpPr txBox="1"/>
          <p:nvPr/>
        </p:nvSpPr>
        <p:spPr>
          <a:xfrm>
            <a:off x="540000" y="35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Route Advisor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Filters alternative routes that avoid active disruptions and match cargo type</a:t>
            </a:r>
          </a:p>
        </p:txBody>
      </p:sp>
      <p:sp>
        <p:nvSpPr>
          <p:cNvPr id="100039" name="Step5"/>
          <p:cNvSpPr txBox="1"/>
          <p:nvPr/>
        </p:nvSpPr>
        <p:spPr>
          <a:xfrm>
            <a:off x="6660000" y="8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Fleet Optimizer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Checks vehicle availability, capacity, reefer slots, and idle status</a:t>
            </a:r>
          </a:p>
        </p:txBody>
      </p:sp>
      <p:sp>
        <p:nvSpPr>
          <p:cNvPr id="100040" name="Step6"/>
          <p:cNvSpPr txBox="1"/>
          <p:nvPr/>
        </p:nvSpPr>
        <p:spPr>
          <a:xfrm>
            <a:off x="6660000" y="17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Cold Chain Monitor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Analyses temperature log readings against safe range, scores excursion severity</a:t>
            </a:r>
          </a:p>
        </p:txBody>
      </p:sp>
      <p:sp>
        <p:nvSpPr>
          <p:cNvPr id="100041" name="Step7"/>
          <p:cNvSpPr txBox="1"/>
          <p:nvPr/>
        </p:nvSpPr>
        <p:spPr>
          <a:xfrm>
            <a:off x="6660000" y="2664000"/>
            <a:ext cx="4860000" cy="792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7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 / Mock AI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Builds structured prompt from risk context, calls Granite 13B, returns explanation</a:t>
            </a:r>
          </a:p>
        </p:txBody>
      </p:sp>
      <p:sp>
        <p:nvSpPr>
          <p:cNvPr id="100042" name="Step8"/>
          <p:cNvSpPr txBox="1"/>
          <p:nvPr/>
        </p:nvSpPr>
        <p:spPr>
          <a:xfrm>
            <a:off x="6660000" y="3564000"/>
            <a:ext cx="4860000" cy="792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8</a:t>
            </a:r>
          </a:p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Actionable Output</a:t>
            </a:r>
          </a:p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Dashboard shows: risk score, disruptions, alternative routes, vehicle, AI advice</a:t>
            </a:r>
          </a:p>
        </p:txBody>
      </p:sp>
      <p:sp>
        <p:nvSpPr>
          <p:cNvPr id="100043" name="ArrowMid"/>
          <p:cNvSpPr txBox="1"/>
          <p:nvPr/>
        </p:nvSpPr>
        <p:spPr>
          <a:xfrm>
            <a:off x="5580000" y="2160000"/>
            <a:ext cx="9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7EC8E3"/>
                </a:solidFill>
                <a:latin typeface="Calibri"/>
                <a:ea typeface="Calibri"/>
              </a:rPr>
              <a:t>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45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46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47" name="LayerUI"/>
          <p:cNvSpPr txBox="1"/>
          <p:nvPr/>
        </p:nvSpPr>
        <p:spPr>
          <a:xfrm>
            <a:off x="360000" y="792000"/>
            <a:ext cx="216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1">
                <a:solidFill>
                  <a:srgbClr val="2D7DD2"/>
                </a:solidFill>
                <a:latin typeface="Calibri"/>
                <a:ea typeface="Calibri"/>
              </a:rPr>
              <a:t>INTERFACE LAYER</a:t>
            </a:r>
          </a:p>
        </p:txBody>
      </p:sp>
      <p:sp>
        <p:nvSpPr>
          <p:cNvPr id="100048" name="BoxStreamlit"/>
          <p:cNvSpPr txBox="1"/>
          <p:nvPr/>
        </p:nvSpPr>
        <p:spPr>
          <a:xfrm>
            <a:off x="360000" y="1080000"/>
            <a:ext cx="324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Streamlit Dashboard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src/app.py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5 pages</a:t>
            </a:r>
          </a:p>
        </p:txBody>
      </p:sp>
      <p:sp>
        <p:nvSpPr>
          <p:cNvPr id="100049" name="BoxMCP"/>
          <p:cNvSpPr txBox="1"/>
          <p:nvPr/>
        </p:nvSpPr>
        <p:spPr>
          <a:xfrm>
            <a:off x="3960000" y="1080000"/>
            <a:ext cx="324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Bob MCP Server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src/mcp_server.py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7 tools</a:t>
            </a:r>
          </a:p>
        </p:txBody>
      </p:sp>
      <p:sp>
        <p:nvSpPr>
          <p:cNvPr id="100050" name="BoxBob"/>
          <p:cNvSpPr txBox="1"/>
          <p:nvPr/>
        </p:nvSpPr>
        <p:spPr>
          <a:xfrm>
            <a:off x="7560000" y="1080000"/>
            <a:ext cx="25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Bob CLI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(natural language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interface)</a:t>
            </a:r>
          </a:p>
        </p:txBody>
      </p:sp>
      <p:sp>
        <p:nvSpPr>
          <p:cNvPr id="100051" name="LayerCore"/>
          <p:cNvSpPr txBox="1"/>
          <p:nvPr/>
        </p:nvSpPr>
        <p:spPr>
          <a:xfrm>
            <a:off x="360000" y="2232000"/>
            <a:ext cx="216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1">
                <a:solidFill>
                  <a:srgbClr val="7EC8E3"/>
                </a:solidFill>
                <a:latin typeface="Calibri"/>
                <a:ea typeface="Calibri"/>
              </a:rPr>
              <a:t>CORE ENGINE  (src/core/)</a:t>
            </a:r>
          </a:p>
        </p:txBody>
      </p:sp>
      <p:sp>
        <p:nvSpPr>
          <p:cNvPr id="100052" name="BoxDD"/>
          <p:cNvSpPr txBox="1"/>
          <p:nvPr/>
        </p:nvSpPr>
        <p:spPr>
          <a:xfrm>
            <a:off x="360000" y="2520000"/>
            <a:ext cx="1872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Disruption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Detector</a:t>
            </a:r>
          </a:p>
        </p:txBody>
      </p:sp>
      <p:sp>
        <p:nvSpPr>
          <p:cNvPr id="100053" name="BoxRE"/>
          <p:cNvSpPr txBox="1"/>
          <p:nvPr/>
        </p:nvSpPr>
        <p:spPr>
          <a:xfrm>
            <a:off x="2448000" y="2520000"/>
            <a:ext cx="1872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Risk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Engine</a:t>
            </a:r>
          </a:p>
        </p:txBody>
      </p:sp>
      <p:sp>
        <p:nvSpPr>
          <p:cNvPr id="100054" name="BoxRA"/>
          <p:cNvSpPr txBox="1"/>
          <p:nvPr/>
        </p:nvSpPr>
        <p:spPr>
          <a:xfrm>
            <a:off x="4536000" y="2520000"/>
            <a:ext cx="1872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Route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Advisor</a:t>
            </a:r>
          </a:p>
        </p:txBody>
      </p:sp>
      <p:sp>
        <p:nvSpPr>
          <p:cNvPr id="100055" name="BoxFO"/>
          <p:cNvSpPr txBox="1"/>
          <p:nvPr/>
        </p:nvSpPr>
        <p:spPr>
          <a:xfrm>
            <a:off x="6624000" y="2520000"/>
            <a:ext cx="1872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Fleet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Optimizer</a:t>
            </a:r>
          </a:p>
        </p:txBody>
      </p:sp>
      <p:sp>
        <p:nvSpPr>
          <p:cNvPr id="100056" name="BoxCC"/>
          <p:cNvSpPr txBox="1"/>
          <p:nvPr/>
        </p:nvSpPr>
        <p:spPr>
          <a:xfrm>
            <a:off x="8712000" y="2520000"/>
            <a:ext cx="1872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Cold Chain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Monitor</a:t>
            </a:r>
          </a:p>
        </p:txBody>
      </p:sp>
      <p:sp>
        <p:nvSpPr>
          <p:cNvPr id="100057" name="BoxWX"/>
          <p:cNvSpPr txBox="1"/>
          <p:nvPr/>
        </p:nvSpPr>
        <p:spPr>
          <a:xfrm>
            <a:off x="10800000" y="2520000"/>
            <a:ext cx="1332000" cy="72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watsonx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</a:p>
        </p:txBody>
      </p:sp>
      <p:sp>
        <p:nvSpPr>
          <p:cNvPr id="100058" name="LayerData"/>
          <p:cNvSpPr txBox="1"/>
          <p:nvPr/>
        </p:nvSpPr>
        <p:spPr>
          <a:xfrm>
            <a:off x="360000" y="3492000"/>
            <a:ext cx="216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1">
                <a:solidFill>
                  <a:srgbClr val="A0B4C8"/>
                </a:solidFill>
                <a:latin typeface="Calibri"/>
                <a:ea typeface="Calibri"/>
              </a:rPr>
              <a:t>DATA LAYER  (src/data/)</a:t>
            </a:r>
          </a:p>
        </p:txBody>
      </p:sp>
      <p:sp>
        <p:nvSpPr>
          <p:cNvPr id="100059" name="BoxData"/>
          <p:cNvSpPr txBox="1"/>
          <p:nvPr/>
        </p:nvSpPr>
        <p:spPr>
          <a:xfrm>
            <a:off x="360000" y="3780000"/>
            <a:ext cx="10080000" cy="504000"/>
          </a:xfrm>
          <a:prstGeom prst="rect">
            <a:avLst/>
          </a:prstGeom>
          <a:solidFill>
            <a:srgbClr val="081020"/>
          </a:solidFill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shipments.json  |  disruptions.json  |  vehicles.json  |  temperature_readings.json</a:t>
            </a:r>
          </a:p>
        </p:txBody>
      </p:sp>
      <p:sp>
        <p:nvSpPr>
          <p:cNvPr id="100060" name="BoxWXCloud"/>
          <p:cNvSpPr txBox="1"/>
          <p:nvPr/>
        </p:nvSpPr>
        <p:spPr>
          <a:xfrm>
            <a:off x="10800000" y="3636000"/>
            <a:ext cx="1332000" cy="720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IBM watsonx.ai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Granite 13B Instruct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(or mock fallback)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1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62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63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64" name="F1"/>
          <p:cNvSpPr txBox="1"/>
          <p:nvPr/>
        </p:nvSpPr>
        <p:spPr>
          <a:xfrm>
            <a:off x="360000" y="828000"/>
            <a:ext cx="378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Shipment Risk Analysis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5-factor score 0-100. Classification: CRITICAL / HIGH / MEDIUM / LOW with per-factor breakdown.</a:t>
            </a:r>
          </a:p>
        </p:txBody>
      </p:sp>
      <p:sp>
        <p:nvSpPr>
          <p:cNvPr id="100065" name="F2"/>
          <p:cNvSpPr txBox="1"/>
          <p:nvPr/>
        </p:nvSpPr>
        <p:spPr>
          <a:xfrm>
            <a:off x="4392000" y="828000"/>
            <a:ext cx="378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Disruption Detection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5 matching rules: explicit link, route, carrier, port, vessel. Active and monitoring events.</a:t>
            </a:r>
          </a:p>
        </p:txBody>
      </p:sp>
      <p:sp>
        <p:nvSpPr>
          <p:cNvPr id="100066" name="F3"/>
          <p:cNvSpPr txBox="1"/>
          <p:nvPr/>
        </p:nvSpPr>
        <p:spPr>
          <a:xfrm>
            <a:off x="8424000" y="828000"/>
            <a:ext cx="3672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Route Recommendation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Alternatives filtered by disruption avoidance and cargo type. Shows extra days and cost.</a:t>
            </a:r>
          </a:p>
        </p:txBody>
      </p:sp>
      <p:sp>
        <p:nvSpPr>
          <p:cNvPr id="100067" name="F4"/>
          <p:cNvSpPr txBox="1"/>
          <p:nvPr/>
        </p:nvSpPr>
        <p:spPr>
          <a:xfrm>
            <a:off x="360000" y="2664000"/>
            <a:ext cx="378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Vehicle Recommendation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Filters by availability, TEU, weight, reefer slots. Ranks by best fit for cargo type.</a:t>
            </a:r>
          </a:p>
        </p:txBody>
      </p:sp>
      <p:sp>
        <p:nvSpPr>
          <p:cNvPr id="100068" name="F5"/>
          <p:cNvSpPr txBox="1"/>
          <p:nvPr/>
        </p:nvSpPr>
        <p:spPr>
          <a:xfrm>
            <a:off x="4392000" y="2664000"/>
            <a:ext cx="3780000" cy="16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Cold-Chain Monitor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Temperature excursion detection with NORMAL / WARNING / CRITICAL severity and 0-100 risk score.</a:t>
            </a:r>
          </a:p>
        </p:txBody>
      </p:sp>
      <p:sp>
        <p:nvSpPr>
          <p:cNvPr id="100069" name="F6"/>
          <p:cNvSpPr txBox="1"/>
          <p:nvPr/>
        </p:nvSpPr>
        <p:spPr>
          <a:xfrm>
            <a:off x="8424000" y="2664000"/>
            <a:ext cx="3672000" cy="162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Bob MCP Server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7 tools: get_shipment_risk, recommend_route, recommend_vehicle, get_fleet_status, get_temperature_alerts, explain_shipment.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0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71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The Application</a:t>
            </a:r>
          </a:p>
        </p:txBody>
      </p:sp>
      <p:sp>
        <p:nvSpPr>
          <p:cNvPr id="100072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7</a:t>
            </a:r>
          </a:p>
        </p:txBody>
      </p:sp>
      <p:pic>
        <p:nvPicPr>
          <p:cNvPr id="10007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792000"/>
            <a:ext cx="5688000" cy="3168000"/>
          </a:xfrm>
          <a:prstGeom prst="rect">
            <a:avLst/>
          </a:prstGeom>
        </p:spPr>
      </p:pic>
      <p:sp>
        <p:nvSpPr>
          <p:cNvPr id="100074" name="Cap1"/>
          <p:cNvSpPr txBox="1"/>
          <p:nvPr/>
        </p:nvSpPr>
        <p:spPr>
          <a:xfrm>
            <a:off x="288000" y="4032000"/>
            <a:ext cx="5688000" cy="252000"/>
          </a:xfrm>
          <a:prstGeom prst="rect">
            <a:avLst/>
          </a:prstGeom>
        </p:spPr>
        <p:txBody>
          <a:bodyPr/>
          <a:lstStyle/>
          <a:p>
            <a:r>
              <a:rPr lang="en-US" sz="1200" b="0">
                <a:solidFill>
                  <a:srgbClr val="A0B4C8"/>
                </a:solidFill>
                <a:latin typeface="Calibri"/>
                <a:ea typeface="Calibri"/>
              </a:rPr>
              <a:t>Dashboard — KPI cards and at-risk shipments</a:t>
            </a:r>
          </a:p>
        </p:txBody>
      </p:sp>
      <p:pic>
        <p:nvPicPr>
          <p:cNvPr id="100075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792000"/>
            <a:ext cx="5688000" cy="3168000"/>
          </a:xfrm>
          <a:prstGeom prst="rect">
            <a:avLst/>
          </a:prstGeom>
        </p:spPr>
      </p:pic>
      <p:sp>
        <p:nvSpPr>
          <p:cNvPr id="100076" name="Cap2"/>
          <p:cNvSpPr txBox="1"/>
          <p:nvPr/>
        </p:nvSpPr>
        <p:spPr>
          <a:xfrm>
            <a:off x="6300000" y="4032000"/>
            <a:ext cx="5688000" cy="252000"/>
          </a:xfrm>
          <a:prstGeom prst="rect">
            <a:avLst/>
          </a:prstGeom>
        </p:spPr>
        <p:txBody>
          <a:bodyPr/>
          <a:lstStyle/>
          <a:p>
            <a:r>
              <a:rPr lang="en-US" sz="1200" b="0">
                <a:solidFill>
                  <a:srgbClr val="A0B4C8"/>
                </a:solidFill>
                <a:latin typeface="Calibri"/>
                <a:ea typeface="Calibri"/>
              </a:rPr>
              <a:t>Shipment Analysis — risk, disruptions, routes, vehicle, AI explanation</a:t>
            </a:r>
          </a:p>
        </p:txBody>
      </p:sp>
      <p:pic>
        <p:nvPicPr>
          <p:cNvPr id="100077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00" y="4428000"/>
            <a:ext cx="3600000" cy="2016000"/>
          </a:xfrm>
          <a:prstGeom prst="rect">
            <a:avLst/>
          </a:prstGeom>
        </p:spPr>
      </p:pic>
      <p:sp>
        <p:nvSpPr>
          <p:cNvPr id="100078" name="Cap3"/>
          <p:cNvSpPr txBox="1"/>
          <p:nvPr/>
        </p:nvSpPr>
        <p:spPr>
          <a:xfrm>
            <a:off x="288000" y="6480000"/>
            <a:ext cx="3600000" cy="216000"/>
          </a:xfrm>
          <a:prstGeom prst="rect">
            <a:avLst/>
          </a:prstGeom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Disruption Center</a:t>
            </a:r>
          </a:p>
        </p:txBody>
      </p:sp>
      <p:pic>
        <p:nvPicPr>
          <p:cNvPr id="100079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000" y="4428000"/>
            <a:ext cx="3600000" cy="2016000"/>
          </a:xfrm>
          <a:prstGeom prst="rect">
            <a:avLst/>
          </a:prstGeom>
        </p:spPr>
      </p:pic>
      <p:sp>
        <p:nvSpPr>
          <p:cNvPr id="100080" name="Cap4"/>
          <p:cNvSpPr txBox="1"/>
          <p:nvPr/>
        </p:nvSpPr>
        <p:spPr>
          <a:xfrm>
            <a:off x="4248000" y="6480000"/>
            <a:ext cx="3600000" cy="216000"/>
          </a:xfrm>
          <a:prstGeom prst="rect">
            <a:avLst/>
          </a:prstGeom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Fleet Utilisation</a:t>
            </a:r>
          </a:p>
        </p:txBody>
      </p:sp>
      <p:pic>
        <p:nvPicPr>
          <p:cNvPr id="100081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8000" y="4428000"/>
            <a:ext cx="3852000" cy="2016000"/>
          </a:xfrm>
          <a:prstGeom prst="rect">
            <a:avLst/>
          </a:prstGeom>
        </p:spPr>
      </p:pic>
      <p:sp>
        <p:nvSpPr>
          <p:cNvPr id="100082" name="Cap5"/>
          <p:cNvSpPr txBox="1"/>
          <p:nvPr/>
        </p:nvSpPr>
        <p:spPr>
          <a:xfrm>
            <a:off x="8208000" y="6480000"/>
            <a:ext cx="3852000" cy="216000"/>
          </a:xfrm>
          <a:prstGeom prst="rect">
            <a:avLst/>
          </a:prstGeom>
        </p:spPr>
        <p:txBody>
          <a:bodyPr/>
          <a:lstStyle/>
          <a:p>
            <a:r>
              <a:rPr lang="en-US" sz="1100" b="0">
                <a:solidFill>
                  <a:srgbClr val="A0B4C8"/>
                </a:solidFill>
                <a:latin typeface="Calibri"/>
                <a:ea typeface="Calibri"/>
              </a:rPr>
              <a:t>Cold Chain Monitor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3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84" name="SlideTitle"/>
          <p:cNvSpPr txBox="1"/>
          <p:nvPr/>
        </p:nvSpPr>
        <p:spPr>
          <a:xfrm>
            <a:off x="720000" y="216000"/>
            <a:ext cx="1008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IBM Bob + watsonx.ai Integration</a:t>
            </a:r>
          </a:p>
        </p:txBody>
      </p:sp>
      <p:sp>
        <p:nvSpPr>
          <p:cNvPr id="100085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086" name="BobHeader"/>
          <p:cNvSpPr txBox="1"/>
          <p:nvPr/>
        </p:nvSpPr>
        <p:spPr>
          <a:xfrm>
            <a:off x="360000" y="828000"/>
            <a:ext cx="5580000" cy="288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7EC8E3"/>
                </a:solidFill>
                <a:latin typeface="Calibri"/>
                <a:ea typeface="Calibri"/>
              </a:rPr>
              <a:t>IBM Bob — AI Development &amp; SDLC Partner</a:t>
            </a:r>
          </a:p>
        </p:txBody>
      </p:sp>
      <p:sp>
        <p:nvSpPr>
          <p:cNvPr id="100087" name="DevStep1"/>
          <p:cNvSpPr txBox="1"/>
          <p:nvPr/>
        </p:nvSpPr>
        <p:spPr>
          <a:xfrm>
            <a:off x="360000" y="1224000"/>
            <a:ext cx="2520000" cy="9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Planning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Problem framing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and architecture design</a:t>
            </a:r>
          </a:p>
        </p:txBody>
      </p:sp>
      <p:sp>
        <p:nvSpPr>
          <p:cNvPr id="100088" name="DevArrow1"/>
          <p:cNvSpPr txBox="1"/>
          <p:nvPr/>
        </p:nvSpPr>
        <p:spPr>
          <a:xfrm>
            <a:off x="2952000" y="1548000"/>
            <a:ext cx="540000" cy="288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D7DD2"/>
                </a:solidFill>
                <a:latin typeface="Calibri"/>
                <a:ea typeface="Calibri"/>
              </a:rPr>
              <a:t>-&gt;</a:t>
            </a:r>
          </a:p>
        </p:txBody>
      </p:sp>
      <p:sp>
        <p:nvSpPr>
          <p:cNvPr id="100089" name="DevStep2"/>
          <p:cNvSpPr txBox="1"/>
          <p:nvPr/>
        </p:nvSpPr>
        <p:spPr>
          <a:xfrm>
            <a:off x="3492000" y="1224000"/>
            <a:ext cx="2520000" cy="9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Coding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Code generation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for all 3 parts</a:t>
            </a:r>
          </a:p>
        </p:txBody>
      </p:sp>
      <p:sp>
        <p:nvSpPr>
          <p:cNvPr id="100090" name="DevArrow2"/>
          <p:cNvSpPr txBox="1"/>
          <p:nvPr/>
        </p:nvSpPr>
        <p:spPr>
          <a:xfrm>
            <a:off x="6084000" y="1548000"/>
            <a:ext cx="540000" cy="288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D7DD2"/>
                </a:solidFill>
                <a:latin typeface="Calibri"/>
                <a:ea typeface="Calibri"/>
              </a:rPr>
              <a:t>-&gt;</a:t>
            </a:r>
          </a:p>
        </p:txBody>
      </p:sp>
      <p:sp>
        <p:nvSpPr>
          <p:cNvPr id="100091" name="DevStep3"/>
          <p:cNvSpPr txBox="1"/>
          <p:nvPr/>
        </p:nvSpPr>
        <p:spPr>
          <a:xfrm>
            <a:off x="360000" y="2556000"/>
            <a:ext cx="2520000" cy="9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Testing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191 pytest tests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all passing</a:t>
            </a:r>
          </a:p>
        </p:txBody>
      </p:sp>
      <p:sp>
        <p:nvSpPr>
          <p:cNvPr id="100092" name="DevStep4"/>
          <p:cNvSpPr txBox="1"/>
          <p:nvPr/>
        </p:nvSpPr>
        <p:spPr>
          <a:xfrm>
            <a:off x="3492000" y="2556000"/>
            <a:ext cx="2520000" cy="9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Review &amp; Debug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Code review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and debugging</a:t>
            </a:r>
          </a:p>
        </p:txBody>
      </p:sp>
      <p:sp>
        <p:nvSpPr>
          <p:cNvPr id="100093" name="DevStep5"/>
          <p:cNvSpPr txBox="1"/>
          <p:nvPr/>
        </p:nvSpPr>
        <p:spPr>
          <a:xfrm>
            <a:off x="6624000" y="1224000"/>
            <a:ext cx="2520000" cy="9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Refinement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Docs, tests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and MCP interaction</a:t>
            </a:r>
          </a:p>
        </p:txBody>
      </p:sp>
      <p:sp>
        <p:nvSpPr>
          <p:cNvPr id="100094" name="WxHeader"/>
          <p:cNvSpPr txBox="1"/>
          <p:nvPr/>
        </p:nvSpPr>
        <p:spPr>
          <a:xfrm>
            <a:off x="6480000" y="2520000"/>
            <a:ext cx="5400000" cy="288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7EC8E3"/>
                </a:solidFill>
                <a:latin typeface="Calibri"/>
                <a:ea typeface="Calibri"/>
              </a:rPr>
              <a:t>IBM watsonx.ai — AI Explanation Runtime</a:t>
            </a:r>
          </a:p>
        </p:txBody>
      </p:sp>
      <p:sp>
        <p:nvSpPr>
          <p:cNvPr id="100095" name="WxBox"/>
          <p:cNvSpPr txBox="1"/>
          <p:nvPr/>
        </p:nvSpPr>
        <p:spPr>
          <a:xfrm>
            <a:off x="6480000" y="2844000"/>
            <a:ext cx="5400000" cy="172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Generates plain-English shipment risk explanations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 13B Instruct model integration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Used when WATSONX_API_KEY, WATSONX_PROJECT_ID and WATSONX_URL are configured.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Mock fallback included — application runs fully without credentials.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Bob does NOT perform watsonx.ai inference.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 is called directly by src/core/watsonx_client.py.</a:t>
            </a:r>
          </a:p>
        </p:txBody>
      </p:sp>
      <p:sp>
        <p:nvSpPr>
          <p:cNvPr id="100096" name="MCPBox"/>
          <p:cNvSpPr txBox="1"/>
          <p:nvPr/>
        </p:nvSpPr>
        <p:spPr>
          <a:xfrm>
            <a:off x="360000" y="3600000"/>
            <a:ext cx="5760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MCP Server — 7 Tools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Exposes SmartRoute AI to IBM Bob for natural-language queries</a:t>
            </a:r>
          </a:p>
          <a:p>
            <a:endParaRPr lang="en-US" sz="12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get_shipment_risk  |  recommend_route  |  recommend_vehicle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get_fleet_status  |  get_temperature_alerts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explain_shipment  |  get_shipment_disruptions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7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/>
          </a:p>
        </p:txBody>
      </p:sp>
      <p:sp>
        <p:nvSpPr>
          <p:cNvPr id="100098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Impact &amp; Innovation</a:t>
            </a:r>
          </a:p>
        </p:txBody>
      </p:sp>
      <p:sp>
        <p:nvSpPr>
          <p:cNvPr id="100099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00100" name="SubHead"/>
          <p:cNvSpPr txBox="1"/>
          <p:nvPr/>
        </p:nvSpPr>
        <p:spPr>
          <a:xfrm>
            <a:off x="720000" y="720000"/>
            <a:ext cx="10800000" cy="288000"/>
          </a:xfrm>
          <a:prstGeom prst="rect">
            <a:avLst/>
          </a:prstGeom>
        </p:spPr>
        <p:txBody>
          <a:bodyPr/>
          <a:lstStyle/>
          <a:p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Expected benefits — not measured production metrics. These are the intended outcomes of the system.</a:t>
            </a:r>
          </a:p>
        </p:txBody>
      </p:sp>
      <p:sp>
        <p:nvSpPr>
          <p:cNvPr id="100101" name="B1"/>
          <p:cNvSpPr txBox="1"/>
          <p:nvPr/>
        </p:nvSpPr>
        <p:spPr>
          <a:xfrm>
            <a:off x="360000" y="1152000"/>
            <a:ext cx="5580000" cy="136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Faster Disruption Response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Affected shipments are surfaced automatically rather than discovered during manual portal checks.</a:t>
            </a:r>
          </a:p>
        </p:txBody>
      </p:sp>
      <p:sp>
        <p:nvSpPr>
          <p:cNvPr id="100102" name="B2"/>
          <p:cNvSpPr txBox="1"/>
          <p:nvPr/>
        </p:nvSpPr>
        <p:spPr>
          <a:xfrm>
            <a:off x="6300000" y="1152000"/>
            <a:ext cx="5580000" cy="136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Confident Route Decisions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Alternatives are pre-filtered by disruption avoidance, cargo type, and real vehicle availability.</a:t>
            </a:r>
          </a:p>
        </p:txBody>
      </p:sp>
      <p:sp>
        <p:nvSpPr>
          <p:cNvPr id="100103" name="B3"/>
          <p:cNvSpPr txBox="1"/>
          <p:nvPr/>
        </p:nvSpPr>
        <p:spPr>
          <a:xfrm>
            <a:off x="360000" y="2664000"/>
            <a:ext cx="5580000" cy="136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Improved Fleet Utilisation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Idle vessels are identified and can be matched to shipments that need rerouting cover.</a:t>
            </a:r>
          </a:p>
        </p:txBody>
      </p:sp>
      <p:sp>
        <p:nvSpPr>
          <p:cNvPr id="100104" name="B4"/>
          <p:cNvSpPr txBox="1"/>
          <p:nvPr/>
        </p:nvSpPr>
        <p:spPr>
          <a:xfrm>
            <a:off x="6300000" y="2664000"/>
            <a:ext cx="5580000" cy="1368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Earlier Cold-Chain Alerts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Temperature excursions are classified before delivery, enabling cargo recovery decisions.</a:t>
            </a:r>
          </a:p>
        </p:txBody>
      </p:sp>
      <p:sp>
        <p:nvSpPr>
          <p:cNvPr id="100105" name="InnovLabel"/>
          <p:cNvSpPr txBox="1"/>
          <p:nvPr/>
        </p:nvSpPr>
        <p:spPr>
          <a:xfrm>
            <a:off x="360000" y="4176000"/>
            <a:ext cx="3600000" cy="252000"/>
          </a:xfrm>
          <a:prstGeom prst="rect">
            <a:avLst/>
          </a:prstGeom>
        </p:spPr>
        <p:txBody>
          <a:bodyPr/>
          <a:lstStyle/>
          <a:p>
            <a:r>
              <a:rPr lang="en-US" sz="1500" b="1">
                <a:solidFill>
                  <a:srgbClr val="7EC8E3"/>
                </a:solidFill>
                <a:latin typeface="Calibri"/>
                <a:ea typeface="Calibri"/>
              </a:rPr>
              <a:t>What makes this different</a:t>
            </a:r>
          </a:p>
        </p:txBody>
      </p:sp>
      <p:sp>
        <p:nvSpPr>
          <p:cNvPr id="100106" name="Innov"/>
          <p:cNvSpPr txBox="1"/>
          <p:nvPr/>
        </p:nvSpPr>
        <p:spPr>
          <a:xfrm>
            <a:off x="360000" y="4464000"/>
            <a:ext cx="11520000" cy="900000"/>
          </a:xfrm>
          <a:prstGeom prst="rect">
            <a:avLst/>
          </a:prstGeom>
          <a:solidFill>
            <a:srgbClr val="081020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Single Python codebase — no database, no external map APIs, no broker services. Runs locally with one command. IBM Bob MCP integration means a logistics coordinator can query the entire supply-chain engine in natural language without opening the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7" name="TopBar"/>
          <p:cNvSpPr txBox="1"/>
          <p:nvPr/>
        </p:nvSpPr>
        <p:spPr>
          <a:xfrm>
            <a:off x="0" y="0"/>
            <a:ext cx="12193200" cy="126000"/>
          </a:xfrm>
          <a:prstGeom prst="rect">
            <a:avLst/>
          </a:prstGeom>
          <a:solidFill>
            <a:srgbClr val="2D7DD2"/>
          </a:solidFill>
        </p:spPr>
        <p:txBody>
          <a:bodyPr/>
          <a:lstStyle/>
          <a:p>
            <a:endParaRPr lang="en-US" sz="800">
              <a:solidFill>
                <a:srgbClr val="2D7DD2"/>
              </a:solidFill>
            </a:endParaRPr>
          </a:p>
        </p:txBody>
      </p:sp>
      <p:sp>
        <p:nvSpPr>
          <p:cNvPr id="100108" name="SlideTitle"/>
          <p:cNvSpPr txBox="1"/>
          <p:nvPr/>
        </p:nvSpPr>
        <p:spPr>
          <a:xfrm>
            <a:off x="720000" y="216000"/>
            <a:ext cx="936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Demo &amp; Conclusion</a:t>
            </a:r>
          </a:p>
        </p:txBody>
      </p:sp>
      <p:sp>
        <p:nvSpPr>
          <p:cNvPr id="100109" name="SlideNum"/>
          <p:cNvSpPr txBox="1"/>
          <p:nvPr/>
        </p:nvSpPr>
        <p:spPr>
          <a:xfrm>
            <a:off x="11160000" y="252000"/>
            <a:ext cx="7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0">
                <a:solidFill>
                  <a:srgbClr val="A0B4C8"/>
                </a:solidFill>
              </a:rPr>
              <a:t>10</a:t>
            </a:r>
          </a:p>
        </p:txBody>
      </p:sp>
      <p:sp>
        <p:nvSpPr>
          <p:cNvPr id="100110" name="DemoHeader"/>
          <p:cNvSpPr txBox="1"/>
          <p:nvPr/>
        </p:nvSpPr>
        <p:spPr>
          <a:xfrm>
            <a:off x="540000" y="792000"/>
            <a:ext cx="52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7EC8E3"/>
                </a:solidFill>
              </a:rPr>
              <a:t>Live Demo Flow</a:t>
            </a:r>
          </a:p>
        </p:txBody>
      </p:sp>
      <p:sp>
        <p:nvSpPr>
          <p:cNvPr id="100111" name="FlowBox"/>
          <p:cNvSpPr txBox="1"/>
          <p:nvPr/>
        </p:nvSpPr>
        <p:spPr>
          <a:xfrm>
            <a:off x="540000" y="1152000"/>
            <a:ext cx="5220000" cy="450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Dashboard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Select Shipment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Risk Analysis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Disruption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Route / Vehicle Recommendation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Cold Chain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→  AI Explanation</a:t>
            </a:r>
          </a:p>
        </p:txBody>
      </p:sp>
      <p:sp>
        <p:nvSpPr>
          <p:cNvPr id="100112" name="ConcHeader"/>
          <p:cNvSpPr txBox="1"/>
          <p:nvPr/>
        </p:nvSpPr>
        <p:spPr>
          <a:xfrm>
            <a:off x="6300000" y="79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7EC8E3"/>
                </a:solidFill>
              </a:rPr>
              <a:t>Key Takeaways</a:t>
            </a:r>
          </a:p>
        </p:txBody>
      </p:sp>
      <p:sp>
        <p:nvSpPr>
          <p:cNvPr id="100113" name="T1"/>
          <p:cNvSpPr txBox="1"/>
          <p:nvPr/>
        </p:nvSpPr>
        <p:spPr>
          <a:xfrm>
            <a:off x="6300000" y="1152000"/>
            <a:ext cx="5400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End-to-end visibility</a:t>
            </a:r>
          </a:p>
          <a:p>
            <a:r>
              <a:rPr lang="en-US" sz="1300">
                <a:solidFill>
                  <a:srgbClr val="FFFFFF"/>
                </a:solidFill>
              </a:rPr>
              <a:t>All affected shipments surfaced and scored automatically</a:t>
            </a:r>
          </a:p>
        </p:txBody>
      </p:sp>
      <p:sp>
        <p:nvSpPr>
          <p:cNvPr id="100114" name="T2"/>
          <p:cNvSpPr txBox="1"/>
          <p:nvPr/>
        </p:nvSpPr>
        <p:spPr>
          <a:xfrm>
            <a:off x="6300000" y="1980000"/>
            <a:ext cx="5400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AI-powered risk scoring</a:t>
            </a:r>
          </a:p>
          <a:p>
            <a:r>
              <a:rPr lang="en-US" sz="1300">
                <a:solidFill>
                  <a:srgbClr val="FFFFFF"/>
                </a:solidFill>
              </a:rPr>
              <a:t>5-factor engine, 0–100 scale, CRITICAL / HIGH / MEDIUM / LOW</a:t>
            </a:r>
          </a:p>
        </p:txBody>
      </p:sp>
      <p:sp>
        <p:nvSpPr>
          <p:cNvPr id="100115" name="T3"/>
          <p:cNvSpPr txBox="1"/>
          <p:nvPr/>
        </p:nvSpPr>
        <p:spPr>
          <a:xfrm>
            <a:off x="6300000" y="2808000"/>
            <a:ext cx="5400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Cold-chain compliance</a:t>
            </a:r>
          </a:p>
          <a:p>
            <a:r>
              <a:rPr lang="en-US" sz="1300">
                <a:solidFill>
                  <a:srgbClr val="FFFFFF"/>
                </a:solidFill>
              </a:rPr>
              <a:t>Excursion detection protects pharmaceutical and perishable cargo</a:t>
            </a:r>
          </a:p>
        </p:txBody>
      </p:sp>
      <p:sp>
        <p:nvSpPr>
          <p:cNvPr id="100116" name="T4"/>
          <p:cNvSpPr txBox="1"/>
          <p:nvPr/>
        </p:nvSpPr>
        <p:spPr>
          <a:xfrm>
            <a:off x="6300000" y="3636000"/>
            <a:ext cx="5400000" cy="720000"/>
          </a:xfrm>
          <a:prstGeom prst="rect">
            <a:avLst/>
          </a:prstGeom>
          <a:solidFill>
            <a:srgbClr val="0F2A44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Fleet optimisation</a:t>
            </a:r>
          </a:p>
          <a:p>
            <a:r>
              <a:rPr lang="en-US" sz="1300">
                <a:solidFill>
                  <a:srgbClr val="FFFFFF"/>
                </a:solidFill>
              </a:rPr>
              <a:t>Idle vehicles identified and matched to rerouting needs</a:t>
            </a:r>
          </a:p>
        </p:txBody>
      </p:sp>
      <p:sp>
        <p:nvSpPr>
          <p:cNvPr id="100117" name="T5"/>
          <p:cNvSpPr txBox="1"/>
          <p:nvPr/>
        </p:nvSpPr>
        <p:spPr>
          <a:xfrm>
            <a:off x="6300000" y="4464000"/>
            <a:ext cx="5400000" cy="72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</a:rPr>
              <a:t>IBM Bob + watsonx.ai</a:t>
            </a:r>
          </a:p>
          <a:p>
            <a:r>
              <a:rPr lang="en-US" sz="1300">
                <a:solidFill>
                  <a:srgbClr val="FFFFFF"/>
                </a:solidFill>
              </a:rPr>
              <a:t>Bob = SDLC partner &amp; MCP layer   ·   watsonx.ai = AI runtime</a:t>
            </a:r>
          </a:p>
        </p:txBody>
      </p:sp>
      <p:sp>
        <p:nvSpPr>
          <p:cNvPr id="100118" name="RepoBox"/>
          <p:cNvSpPr txBox="1"/>
          <p:nvPr/>
        </p:nvSpPr>
        <p:spPr>
          <a:xfrm>
            <a:off x="540000" y="5832000"/>
            <a:ext cx="11160000" cy="432000"/>
          </a:xfrm>
          <a:prstGeom prst="rect">
            <a:avLst/>
          </a:prstGeom>
          <a:solidFill>
            <a:srgbClr val="081020"/>
          </a:solidFill>
        </p:spPr>
        <p:txBody>
          <a:bodyPr/>
          <a:lstStyle/>
          <a:p>
            <a:r>
              <a:rPr lang="en-US" sz="1300">
                <a:solidFill>
                  <a:srgbClr val="A0B4C8"/>
                </a:solidFill>
              </a:rPr>
              <a:t>GitHub:  github.com/Patelprincekumar2007/sample_repo_for_ibm          Deployment:  NOT DEPLOYED</a:t>
            </a:r>
          </a:p>
        </p:txBody>
      </p:sp>
      <p:sp>
        <p:nvSpPr>
          <p:cNvPr id="100119" name="TeamFooter"/>
          <p:cNvSpPr txBox="1"/>
          <p:nvPr/>
        </p:nvSpPr>
        <p:spPr>
          <a:xfrm>
            <a:off x="540000" y="6372000"/>
            <a:ext cx="1116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3A6E8A"/>
                </a:solidFill>
              </a:rPr>
              <a:t>Team PI-NANT  ·  Kashyap Nasit  ·  Patel Princekumar  ·  Patel Rudrakumar  ·  IBM Bob AI Innovation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Microsoft Office PowerPoint</Application>
  <PresentationFormat>Widescreen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24CS073 PRINCEKUMAR PATEL</cp:lastModifiedBy>
  <cp:revision>1</cp:revision>
  <dcterms:created xsi:type="dcterms:W3CDTF">2026-09-13T08:13:16Z</dcterms:created>
  <dcterms:modified xsi:type="dcterms:W3CDTF">2026-09-13T08:44:40Z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1.0.149</vt:lpwstr>
  </property>
  <property fmtid="{D5CDD505-2E9C-101B-9397-08002B2CF9AE}" pid="3" name="OfficeCLI.LastModified">
    <vt:lpwstr>2026-09-13T08:43:33Z</vt:lpwstr>
  </property>
</Properties>
</file>