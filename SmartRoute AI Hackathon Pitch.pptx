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10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2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8.png"/><Relationship Id="rId21" Type="http://schemas.openxmlformats.org/officeDocument/2006/relationships/image" Target="../media/image55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22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9.png"/><Relationship Id="rId9" Type="http://schemas.openxmlformats.org/officeDocument/2006/relationships/image" Target="../media/image7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7.png"/><Relationship Id="rId21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22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99.png"/><Relationship Id="rId3" Type="http://schemas.openxmlformats.org/officeDocument/2006/relationships/image" Target="../media/image77.png"/><Relationship Id="rId21" Type="http://schemas.openxmlformats.org/officeDocument/2006/relationships/image" Target="../media/image94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8.png"/><Relationship Id="rId33" Type="http://schemas.openxmlformats.org/officeDocument/2006/relationships/image" Target="../media/image106.png"/><Relationship Id="rId2" Type="http://schemas.openxmlformats.org/officeDocument/2006/relationships/image" Target="../media/image22.png"/><Relationship Id="rId16" Type="http://schemas.openxmlformats.org/officeDocument/2006/relationships/image" Target="../media/image90.png"/><Relationship Id="rId20" Type="http://schemas.openxmlformats.org/officeDocument/2006/relationships/image" Target="../media/image7.png"/><Relationship Id="rId29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7.png"/><Relationship Id="rId32" Type="http://schemas.openxmlformats.org/officeDocument/2006/relationships/image" Target="../media/image10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31" Type="http://schemas.openxmlformats.org/officeDocument/2006/relationships/image" Target="../media/image10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5.png"/><Relationship Id="rId27" Type="http://schemas.openxmlformats.org/officeDocument/2006/relationships/image" Target="../media/image100.png"/><Relationship Id="rId30" Type="http://schemas.openxmlformats.org/officeDocument/2006/relationships/image" Target="../media/image103.png"/><Relationship Id="rId8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7.png"/><Relationship Id="rId21" Type="http://schemas.openxmlformats.org/officeDocument/2006/relationships/image" Target="../media/image123.png"/><Relationship Id="rId7" Type="http://schemas.openxmlformats.org/officeDocument/2006/relationships/image" Target="../media/image111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image" Target="../media/image22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45.png"/><Relationship Id="rId5" Type="http://schemas.openxmlformats.org/officeDocument/2006/relationships/image" Target="../media/image109.png"/><Relationship Id="rId15" Type="http://schemas.openxmlformats.org/officeDocument/2006/relationships/image" Target="../media/image117.png"/><Relationship Id="rId10" Type="http://schemas.openxmlformats.org/officeDocument/2006/relationships/image" Target="../media/image113.png"/><Relationship Id="rId19" Type="http://schemas.openxmlformats.org/officeDocument/2006/relationships/image" Target="../media/image121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26" Type="http://schemas.openxmlformats.org/officeDocument/2006/relationships/image" Target="../media/image115.png"/><Relationship Id="rId21" Type="http://schemas.openxmlformats.org/officeDocument/2006/relationships/image" Target="../media/image140.png"/><Relationship Id="rId34" Type="http://schemas.openxmlformats.org/officeDocument/2006/relationships/image" Target="../media/image152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5" Type="http://schemas.openxmlformats.org/officeDocument/2006/relationships/image" Target="../media/image144.png"/><Relationship Id="rId33" Type="http://schemas.openxmlformats.org/officeDocument/2006/relationships/image" Target="../media/image151.png"/><Relationship Id="rId2" Type="http://schemas.openxmlformats.org/officeDocument/2006/relationships/image" Target="../media/image22.png"/><Relationship Id="rId16" Type="http://schemas.openxmlformats.org/officeDocument/2006/relationships/image" Target="../media/image136.png"/><Relationship Id="rId20" Type="http://schemas.openxmlformats.org/officeDocument/2006/relationships/image" Target="../media/image139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31.png"/><Relationship Id="rId24" Type="http://schemas.openxmlformats.org/officeDocument/2006/relationships/image" Target="../media/image143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5" Type="http://schemas.openxmlformats.org/officeDocument/2006/relationships/image" Target="../media/image126.png"/><Relationship Id="rId15" Type="http://schemas.openxmlformats.org/officeDocument/2006/relationships/image" Target="../media/image135.png"/><Relationship Id="rId23" Type="http://schemas.openxmlformats.org/officeDocument/2006/relationships/image" Target="../media/image142.pn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30.png"/><Relationship Id="rId19" Type="http://schemas.openxmlformats.org/officeDocument/2006/relationships/image" Target="../media/image7.png"/><Relationship Id="rId31" Type="http://schemas.openxmlformats.org/officeDocument/2006/relationships/image" Target="../media/image149.png"/><Relationship Id="rId4" Type="http://schemas.openxmlformats.org/officeDocument/2006/relationships/image" Target="../media/image125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1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8" Type="http://schemas.openxmlformats.org/officeDocument/2006/relationships/image" Target="../media/image128.png"/><Relationship Id="rId3" Type="http://schemas.openxmlformats.org/officeDocument/2006/relationships/image" Target="../media/image1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0.png"/><Relationship Id="rId3" Type="http://schemas.openxmlformats.org/officeDocument/2006/relationships/image" Target="../media/image156.png"/><Relationship Id="rId21" Type="http://schemas.openxmlformats.org/officeDocument/2006/relationships/image" Target="../media/image173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69.png"/><Relationship Id="rId25" Type="http://schemas.openxmlformats.org/officeDocument/2006/relationships/image" Target="../media/image177.png"/><Relationship Id="rId2" Type="http://schemas.openxmlformats.org/officeDocument/2006/relationships/image" Target="../media/image22.png"/><Relationship Id="rId16" Type="http://schemas.openxmlformats.org/officeDocument/2006/relationships/image" Target="../media/image7.png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24" Type="http://schemas.openxmlformats.org/officeDocument/2006/relationships/image" Target="../media/image176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23" Type="http://schemas.openxmlformats.org/officeDocument/2006/relationships/image" Target="../media/image175.png"/><Relationship Id="rId10" Type="http://schemas.openxmlformats.org/officeDocument/2006/relationships/image" Target="../media/image163.png"/><Relationship Id="rId19" Type="http://schemas.openxmlformats.org/officeDocument/2006/relationships/image" Target="../media/image171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7.png"/><Relationship Id="rId18" Type="http://schemas.openxmlformats.org/officeDocument/2006/relationships/image" Target="../media/image191.png"/><Relationship Id="rId3" Type="http://schemas.openxmlformats.org/officeDocument/2006/relationships/image" Target="../media/image178.png"/><Relationship Id="rId21" Type="http://schemas.openxmlformats.org/officeDocument/2006/relationships/image" Target="../media/image194.png"/><Relationship Id="rId7" Type="http://schemas.openxmlformats.org/officeDocument/2006/relationships/image" Target="../media/image157.png"/><Relationship Id="rId12" Type="http://schemas.openxmlformats.org/officeDocument/2006/relationships/image" Target="../media/image186.png"/><Relationship Id="rId17" Type="http://schemas.openxmlformats.org/officeDocument/2006/relationships/image" Target="../media/image190.png"/><Relationship Id="rId2" Type="http://schemas.openxmlformats.org/officeDocument/2006/relationships/image" Target="../media/image22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image" Target="../media/image185.png"/><Relationship Id="rId24" Type="http://schemas.openxmlformats.org/officeDocument/2006/relationships/image" Target="../media/image197.png"/><Relationship Id="rId5" Type="http://schemas.openxmlformats.org/officeDocument/2006/relationships/image" Target="../media/image180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10" Type="http://schemas.openxmlformats.org/officeDocument/2006/relationships/image" Target="../media/image184.png"/><Relationship Id="rId19" Type="http://schemas.openxmlformats.org/officeDocument/2006/relationships/image" Target="../media/image192.png"/><Relationship Id="rId4" Type="http://schemas.openxmlformats.org/officeDocument/2006/relationships/image" Target="../media/image179.png"/><Relationship Id="rId9" Type="http://schemas.openxmlformats.org/officeDocument/2006/relationships/image" Target="../media/image183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6.png"/><Relationship Id="rId3" Type="http://schemas.openxmlformats.org/officeDocument/2006/relationships/image" Target="../media/image198.png"/><Relationship Id="rId7" Type="http://schemas.openxmlformats.org/officeDocument/2006/relationships/image" Target="../media/image7.png"/><Relationship Id="rId12" Type="http://schemas.openxmlformats.org/officeDocument/2006/relationships/image" Target="../media/image20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png"/><Relationship Id="rId11" Type="http://schemas.openxmlformats.org/officeDocument/2006/relationships/image" Target="../media/image204.png"/><Relationship Id="rId5" Type="http://schemas.openxmlformats.org/officeDocument/2006/relationships/image" Target="../media/image200.png"/><Relationship Id="rId10" Type="http://schemas.openxmlformats.org/officeDocument/2006/relationships/image" Target="../media/image203.png"/><Relationship Id="rId4" Type="http://schemas.openxmlformats.org/officeDocument/2006/relationships/image" Target="../media/image199.png"/><Relationship Id="rId9" Type="http://schemas.openxmlformats.org/officeDocument/2006/relationships/image" Target="../media/image117.png"/><Relationship Id="rId1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172.png"/><Relationship Id="rId18" Type="http://schemas.openxmlformats.org/officeDocument/2006/relationships/image" Target="../media/image217.png"/><Relationship Id="rId3" Type="http://schemas.openxmlformats.org/officeDocument/2006/relationships/image" Target="../media/image207.png"/><Relationship Id="rId7" Type="http://schemas.openxmlformats.org/officeDocument/2006/relationships/image" Target="../media/image7.png"/><Relationship Id="rId12" Type="http://schemas.openxmlformats.org/officeDocument/2006/relationships/image" Target="../media/image213.png"/><Relationship Id="rId17" Type="http://schemas.openxmlformats.org/officeDocument/2006/relationships/image" Target="../media/image216.png"/><Relationship Id="rId2" Type="http://schemas.openxmlformats.org/officeDocument/2006/relationships/image" Target="../media/image22.png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114.png"/><Relationship Id="rId5" Type="http://schemas.openxmlformats.org/officeDocument/2006/relationships/image" Target="../media/image209.png"/><Relationship Id="rId15" Type="http://schemas.openxmlformats.org/officeDocument/2006/relationships/image" Target="../media/image215.png"/><Relationship Id="rId10" Type="http://schemas.openxmlformats.org/officeDocument/2006/relationships/image" Target="../media/image212.png"/><Relationship Id="rId19" Type="http://schemas.openxmlformats.org/officeDocument/2006/relationships/image" Target="../media/image218.png"/><Relationship Id="rId4" Type="http://schemas.openxmlformats.org/officeDocument/2006/relationships/image" Target="../media/image208.png"/><Relationship Id="rId9" Type="http://schemas.openxmlformats.org/officeDocument/2006/relationships/image" Target="../media/image189.png"/><Relationship Id="rId14" Type="http://schemas.openxmlformats.org/officeDocument/2006/relationships/image" Target="../media/image2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6.png"/><Relationship Id="rId3" Type="http://schemas.openxmlformats.org/officeDocument/2006/relationships/image" Target="../media/image219.png"/><Relationship Id="rId7" Type="http://schemas.openxmlformats.org/officeDocument/2006/relationships/image" Target="../media/image222.png"/><Relationship Id="rId12" Type="http://schemas.openxmlformats.org/officeDocument/2006/relationships/image" Target="../media/image2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24.png"/><Relationship Id="rId5" Type="http://schemas.openxmlformats.org/officeDocument/2006/relationships/image" Target="../media/image221.png"/><Relationship Id="rId10" Type="http://schemas.openxmlformats.org/officeDocument/2006/relationships/image" Target="../media/image189.png"/><Relationship Id="rId4" Type="http://schemas.openxmlformats.org/officeDocument/2006/relationships/image" Target="../media/image220.png"/><Relationship Id="rId9" Type="http://schemas.openxmlformats.org/officeDocument/2006/relationships/image" Target="../media/image17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651" y="4367212"/>
            <a:ext cx="4603849" cy="111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3654623"/>
            <a:ext cx="3079551" cy="638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626" y="3654623"/>
            <a:ext cx="3079700" cy="638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4388048"/>
            <a:ext cx="3079551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9626" y="4388048"/>
            <a:ext cx="30797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25" y="6448425"/>
            <a:ext cx="1485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SMARTROUTE AI •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01 / 12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" y="2017514"/>
            <a:ext cx="21717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825" y="2369939"/>
            <a:ext cx="6567227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sz="3750" b="0" i="0" u="none">
                <a:solidFill>
                  <a:srgbClr val="FFFFFF"/>
                </a:solidFill>
                <a:latin typeface="Plus Jakarta Sans ExtraBold"/>
              </a:rPr>
              <a:t>SmartRoute </a:t>
            </a:r>
            <a:r>
              <a:rPr sz="3750" b="0" i="0" u="none">
                <a:solidFill>
                  <a:srgbClr val="38BDF8"/>
                </a:solidFill>
                <a:latin typeface="Plus Jakarta Sans ExtraBold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2984301"/>
            <a:ext cx="6254501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Supply Chain Disruption Assistant &amp; Multi-Constraint Fleet Utilisation Optimizer powered by IBM Bob and watsonx.ai.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51" y="1404937"/>
            <a:ext cx="4603849" cy="407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" y="2069901"/>
            <a:ext cx="76200" cy="95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4151" y="4557712"/>
            <a:ext cx="1562100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700" y="3759398"/>
            <a:ext cx="2793801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JetBrains Mono"/>
              </a:rPr>
              <a:t>TEAM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3902273"/>
            <a:ext cx="279380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F1F5F9"/>
                </a:solidFill>
                <a:latin typeface="Inter SemiBold"/>
              </a:rPr>
              <a:t>Team PI-NANT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501" y="3759398"/>
            <a:ext cx="27939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JetBrains Mono"/>
              </a:rPr>
              <a:t>CORE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501" y="3902273"/>
            <a:ext cx="279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F1F5F9"/>
                </a:solidFill>
                <a:latin typeface="Inter SemiBold"/>
              </a:rPr>
              <a:t>Kashyap Nasit • Patel Princekumar • Patel Rudrakumar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4492823"/>
            <a:ext cx="2793801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JetBrains Mono"/>
              </a:rPr>
              <a:t>AI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4635698"/>
            <a:ext cx="279380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F1F5F9"/>
                </a:solidFill>
                <a:latin typeface="Inter SemiBold"/>
              </a:rPr>
              <a:t>IBM watsonx.ai (Granite 13B)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501" y="4492823"/>
            <a:ext cx="27939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JetBrains Mono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501" y="4635698"/>
            <a:ext cx="279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F1F5F9"/>
                </a:solidFill>
                <a:latin typeface="Inter SemiBold"/>
              </a:rPr>
              <a:t>Zero-Broker Python Stack + Bob MCP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9876" y="4610100"/>
            <a:ext cx="95250" cy="952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4151" y="4833937"/>
            <a:ext cx="11620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3351" y="4833937"/>
            <a:ext cx="110490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45401" y="4833937"/>
            <a:ext cx="1190625" cy="2000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4151" y="5091112"/>
            <a:ext cx="1171575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9876" y="4886325"/>
            <a:ext cx="95250" cy="952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69076" y="4886325"/>
            <a:ext cx="95250" cy="95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1126" y="4886325"/>
            <a:ext cx="123825" cy="952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9876" y="5143500"/>
            <a:ext cx="104775" cy="952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IBM BOB AI INNOVATION HACKATHON 2026 • PROJECT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238250"/>
            <a:ext cx="363855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725" y="1238250"/>
            <a:ext cx="363855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5" y="1238250"/>
            <a:ext cx="3638550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848100"/>
            <a:ext cx="3638550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725" y="3848100"/>
            <a:ext cx="3638550" cy="247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5" y="3848100"/>
            <a:ext cx="3638550" cy="2476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4825" y="6448425"/>
            <a:ext cx="2457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PROBLEM FORMULATION • SUPPLY CHAIN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181927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Severe vessel bottlenecks extend berthing queues by 5–7 days, stalling global shipping lanes and cascading critical delivery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181927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Cyclones and severe maritime storms force sudden diversions, inflating bunkering fuel costs and adding days to delivery deadlines.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8650" y="181927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Unanticipated engine or propulsion breakdowns strand cargo mid-voyage, incurring severe daily detention and contingency expenses.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42912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Reefer container power faults cause temperature spikes, spoiling volatile biopharmaceuticals and high-value perishable fresh produce.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750" y="442912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Carriers leave available vessels idle with unallocated capacity while disrupted shipments struggle to secure emergency rebooking cover.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4429125"/>
            <a:ext cx="32385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Logistics operators waste hours cross-checking static carrier portals and spreadsheets, resulting in reactive, late-stage decisions.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1419225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50" y="1481137"/>
            <a:ext cx="125015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Port Congestion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6750" y="1419225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95850" y="1481137"/>
            <a:ext cx="136017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Extreme Weather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8650" y="1419225"/>
            <a:ext cx="323850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67750" y="1481137"/>
            <a:ext cx="11201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Vessel Failures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029075"/>
            <a:ext cx="323850" cy="323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50" y="4090987"/>
            <a:ext cx="17602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Cold-Chain Excursions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6750" y="4029075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95850" y="4090987"/>
            <a:ext cx="177022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Fleet Under-Utilisation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8650" y="4029075"/>
            <a:ext cx="323850" cy="3238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7750" y="4090987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Manual Response Latency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2" y="1509712"/>
            <a:ext cx="1619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7237" y="1509712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9612" y="1509712"/>
            <a:ext cx="1619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862" y="4119562"/>
            <a:ext cx="1238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8187" y="4119562"/>
            <a:ext cx="1809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9137" y="4119562"/>
            <a:ext cx="14287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INDUSTRY LANDSCAPE &amp; CHALLENGES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Critical Vulnerabilities in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Logistics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404764"/>
            <a:ext cx="3625750" cy="13004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75" y="2404764"/>
            <a:ext cx="3625899" cy="1300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2404764"/>
            <a:ext cx="3625750" cy="1300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857625"/>
            <a:ext cx="3625750" cy="1300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2975" y="3857625"/>
            <a:ext cx="3625899" cy="13004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1275" y="3857625"/>
            <a:ext cx="3625750" cy="13004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4825" y="6448425"/>
            <a:ext cx="2343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CORE ARCHITECTURE • VALUE DIFFERENTIATION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03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985789"/>
            <a:ext cx="32257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Quantified 0–100 composite index classifying each shipment as CRITICAL, HIGH, MEDIUM, or LOW based on delay pressure and cargo fragility.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3000" y="2985789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Real-time correlation of port strikes, weather advisories, customs audits, and mechanical breakdowns directly to exposed cargo routes.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1300" y="2985789"/>
            <a:ext cx="32257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Discovers and ranks alternative corridors with predictive delay delta calculations, cost impacts, and cargo-type compatibility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438650"/>
            <a:ext cx="32257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Matches distressed shipments against idle fleet inventory, verifying TEU capacity, weight constraints, and reefer plug allowances.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000" y="4438650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Continuous sensor log evaluation against strict pharmaceutical and perishable safety thresholds, surfacing excursions instantly.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300" y="4438650"/>
            <a:ext cx="32257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IBM Granite 13B Instruct delivers transparent, plain-English rationales for tactical decisions, empowering non-technical operators.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2585739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50" y="2647652"/>
            <a:ext cx="169021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5-Factor Risk Scoring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3000" y="2585739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02100" y="2647652"/>
            <a:ext cx="174021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Active Event Matching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1300" y="2585739"/>
            <a:ext cx="323850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0400" y="2647652"/>
            <a:ext cx="204025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Disruption-Free Rerouting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4038600"/>
            <a:ext cx="323850" cy="323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50" y="4100512"/>
            <a:ext cx="226028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Fleet Allocation Optimization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000" y="4038600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2100" y="4100512"/>
            <a:ext cx="242030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Autonomous Cold-Chain Guard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1300" y="4038600"/>
            <a:ext cx="323850" cy="3238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0400" y="4100512"/>
            <a:ext cx="18702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watsonx.ai Explanations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337" y="2676227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3488" y="2676227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51787" y="2676227"/>
            <a:ext cx="1428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6287" y="4129087"/>
            <a:ext cx="1809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3488" y="4129087"/>
            <a:ext cx="1428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51787" y="4129087"/>
            <a:ext cx="14287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VALUE PROPOSITION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SmartRoute AI: The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Control Tower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238250"/>
            <a:ext cx="2709862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1238250"/>
            <a:ext cx="2709862" cy="2486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1238250"/>
            <a:ext cx="2709862" cy="2486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312" y="1238250"/>
            <a:ext cx="2709862" cy="2486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3838575"/>
            <a:ext cx="2709862" cy="2486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3838575"/>
            <a:ext cx="2709862" cy="2486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838575"/>
            <a:ext cx="2709862" cy="2486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312" y="3838575"/>
            <a:ext cx="2709862" cy="2486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395287"/>
            <a:ext cx="112514" cy="857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825" y="6448425"/>
            <a:ext cx="24003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ALGORITHMIC WORKFLOW • END-TO-END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04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16478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Shipment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1866900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Loads structured manifests: origin, destination, carrier, baseline ETA, priority, and specialized cargo attributes.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912" y="16478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Disruption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0912" y="1866900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Correlates active global events (port congestion, cyclone alerts, strikes, vessel failures) against transit legs.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075" y="16478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5-Factor Risk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1866900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Computes 0-100 severity index weighting disruption severity, delay days, SLA deadlines, priority, and cold 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237" y="16478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Route Advisor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9237" y="1866900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Discovers and ranks clean alternative corridors, benchmarking transit days and incremental cost deltas.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42481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Fleet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4467225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Surfaces unallocated vessels with matching TEU capacity, weight allowances, departure dates, and reefer plugs.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0912" y="42481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Cold-Chain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0912" y="4467225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Inspects historical thermal logs against strict safe envelopes, quantifying excursion duration and risk level.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42481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watsonx.ai Granite 13B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4467225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Formats multi-factor risk contexts into prompt payloads, querying IBM Granite 13B Instruct with mock fallback.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9237" y="42481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Autonomous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9237" y="4467225"/>
            <a:ext cx="2386012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Delivers actionable dashboard triage, automated vehicle assignment, and natural language MCP responses.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1381125"/>
            <a:ext cx="2667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7987" y="1414462"/>
            <a:ext cx="10477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90912" y="1381125"/>
            <a:ext cx="2667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5075" y="1381125"/>
            <a:ext cx="2667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5837" y="1414462"/>
            <a:ext cx="95250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39237" y="1381125"/>
            <a:ext cx="2667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1425" y="1414462"/>
            <a:ext cx="12382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" y="3981450"/>
            <a:ext cx="2667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00362" y="4014787"/>
            <a:ext cx="1524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0912" y="3981450"/>
            <a:ext cx="26670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53100" y="4014787"/>
            <a:ext cx="123825" cy="1238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15075" y="3981450"/>
            <a:ext cx="26670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7262" y="4014787"/>
            <a:ext cx="123825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39237" y="3981450"/>
            <a:ext cx="2667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01425" y="4014787"/>
            <a:ext cx="123825" cy="12382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3539" y="371475"/>
            <a:ext cx="1099363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SEQUENTIAL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System Execution &amp; Data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238250"/>
            <a:ext cx="11182350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2343150"/>
            <a:ext cx="11182350" cy="5735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3031033"/>
            <a:ext cx="11182350" cy="57358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8917"/>
            <a:ext cx="11182350" cy="57358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1362075"/>
            <a:ext cx="2676525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2482304"/>
            <a:ext cx="1457325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9575" y="2482304"/>
            <a:ext cx="160020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5025" y="2482304"/>
            <a:ext cx="1152525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2800" y="2482304"/>
            <a:ext cx="1247775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5825" y="2482304"/>
            <a:ext cx="1371600" cy="295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2675" y="2482304"/>
            <a:ext cx="1200150" cy="295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0" y="3170187"/>
            <a:ext cx="1200150" cy="29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62400" y="3170187"/>
            <a:ext cx="12382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5900" y="3170187"/>
            <a:ext cx="1095375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3170187"/>
            <a:ext cx="1838325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67000" y="3858071"/>
            <a:ext cx="2428875" cy="2952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91125" y="3858071"/>
            <a:ext cx="2971800" cy="2952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4825" y="395287"/>
            <a:ext cx="112514" cy="857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4825" y="6448425"/>
            <a:ext cx="2628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ENGINEERING DEPLOYMENT • COMPONENT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05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570583"/>
            <a:ext cx="19002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8BDF8"/>
                </a:solidFill>
                <a:latin typeface="Plus Jakarta Sans"/>
              </a:rPr>
              <a:t>INTERFACE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751558"/>
            <a:ext cx="1809750" cy="144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787" b="0" i="0" u="none">
                <a:solidFill>
                  <a:srgbClr val="64748B"/>
                </a:solidFill>
                <a:latin typeface="JetBrains Mono"/>
              </a:rPr>
              <a:t>Operator 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466975"/>
            <a:ext cx="19002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8BDF8"/>
                </a:solidFill>
                <a:latin typeface="Plus Jakarta Sans"/>
              </a:rPr>
              <a:t>CORE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647950"/>
            <a:ext cx="1809750" cy="144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787" b="0" i="0" u="none">
                <a:solidFill>
                  <a:srgbClr val="64748B"/>
                </a:solidFill>
                <a:latin typeface="JetBrains Mono"/>
              </a:rPr>
              <a:t>Business Logic (src/core/)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154858"/>
            <a:ext cx="19002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8BDF8"/>
                </a:solidFill>
                <a:latin typeface="Plus Jakarta Sans"/>
              </a:rPr>
              <a:t>DATA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335833"/>
            <a:ext cx="1809750" cy="144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787" b="0" i="0" u="none">
                <a:solidFill>
                  <a:srgbClr val="64748B"/>
                </a:solidFill>
                <a:latin typeface="JetBrains Mono"/>
              </a:rPr>
              <a:t>Zero-DB JSON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42742"/>
            <a:ext cx="19002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78A9FF"/>
                </a:solidFill>
                <a:latin typeface="Plus Jakarta Sans"/>
              </a:rPr>
              <a:t>FOUNDATION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23717"/>
            <a:ext cx="1809750" cy="144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787" b="0" i="0" u="none">
                <a:solidFill>
                  <a:srgbClr val="64748B"/>
                </a:solidFill>
                <a:latin typeface="JetBrains Mono"/>
              </a:rPr>
              <a:t>IBM Cloud Service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0825" y="1466850"/>
            <a:ext cx="133350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43575" y="1466850"/>
            <a:ext cx="133350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90825" y="1885950"/>
            <a:ext cx="1428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90825" y="2572791"/>
            <a:ext cx="114300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43400" y="2572791"/>
            <a:ext cx="114300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38850" y="2572791"/>
            <a:ext cx="114300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86625" y="2572791"/>
            <a:ext cx="133350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29650" y="2572791"/>
            <a:ext cx="76200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96500" y="2572791"/>
            <a:ext cx="114300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90825" y="3260675"/>
            <a:ext cx="85725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86225" y="3260675"/>
            <a:ext cx="85725" cy="1143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19725" y="3260675"/>
            <a:ext cx="85725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10350" y="3260675"/>
            <a:ext cx="85725" cy="1143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90825" y="3948558"/>
            <a:ext cx="114300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14950" y="3948558"/>
            <a:ext cx="104775" cy="1143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3539" y="371475"/>
            <a:ext cx="1099363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TECHNICAL SPECIFICATION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Multi-Tier System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Architecture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976139"/>
            <a:ext cx="5476875" cy="11209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3211413"/>
            <a:ext cx="5476875" cy="11209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4446686"/>
            <a:ext cx="5476875" cy="11209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976139"/>
            <a:ext cx="5476875" cy="11209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3211413"/>
            <a:ext cx="5476875" cy="11209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446686"/>
            <a:ext cx="5476875" cy="114002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4825" y="6448425"/>
            <a:ext cx="25717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FUNCTIONAL HIGHLIGHTS • PLATFORM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06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557164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Granular per-factor weighting: Disruption Severity (35 pts), Delay Factor (25 pts), Deadline Pressure (20 pts), Priority (15 pts), and Cold-Chain Vulnerability (5 pts).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792438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Five matching engines: explicit shipment IDs, route legs, carrier networks, maritime ports, and individual vessels across active and monitoring statuses.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5027711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Evaluates alternative corridors, dynamically excluding congested straits while forecasting arrival day variances and incremental freight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2557164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Matches idle assets based on TEU slots, weight limits, and reefer plugs. Automatically recommends optimal carriers (e.g. Evergreen MV Southern Cross).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792438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Tracks excursion frequency and safe temperature bounds (e.g. 2°C–8°C vaccines), generating instant CRITICAL warnings before spoilage occurs.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5027711"/>
            <a:ext cx="5076825" cy="378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Exposes complete core logic via Model Context Protocol: get_shipment_risk, recommend_route, recommend_vehicle, explain_shipment, and more.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2157114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50" y="2219027"/>
            <a:ext cx="23102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5-Factor Shipment Risk Index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392388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50" y="3454300"/>
            <a:ext cx="2470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Multi-Rule Disruption Detection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4627661"/>
            <a:ext cx="323850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50" y="4689574"/>
            <a:ext cx="27603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Deterministic Route Recommender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2157114"/>
            <a:ext cx="323850" cy="323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9425" y="2219027"/>
            <a:ext cx="23402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Smart Vehicle &amp; Fleet Matcher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3392388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29425" y="3454300"/>
            <a:ext cx="296037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Pharmaceutical Cold-Chain Telemetry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0325" y="4627661"/>
            <a:ext cx="323850" cy="3238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29425" y="4689574"/>
            <a:ext cx="22402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IBM Bob MCP Server (7 Tools)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337" y="2247602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337" y="3482875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812" y="4718149"/>
            <a:ext cx="1619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91287" y="2247602"/>
            <a:ext cx="1619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1287" y="3482875"/>
            <a:ext cx="1619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1287" y="4718149"/>
            <a:ext cx="16192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MODULAR CAPABILITIES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Enterprise Feature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Breakdown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962150"/>
            <a:ext cx="547687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971675"/>
            <a:ext cx="545782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962150"/>
            <a:ext cx="5476875" cy="11209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479726"/>
            <a:ext cx="5476875" cy="11209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" y="2047875"/>
            <a:ext cx="25717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" y="2314575"/>
            <a:ext cx="1333500" cy="3276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7850" y="2314575"/>
            <a:ext cx="4124325" cy="3276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329285"/>
            <a:ext cx="1774775" cy="904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1275" y="3329285"/>
            <a:ext cx="1774775" cy="904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2250" y="3329285"/>
            <a:ext cx="1774775" cy="904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686050"/>
            <a:ext cx="1133475" cy="238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9300" y="2743200"/>
            <a:ext cx="600075" cy="552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95575" y="2743200"/>
            <a:ext cx="361950" cy="552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33725" y="2743200"/>
            <a:ext cx="552450" cy="552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62375" y="2743200"/>
            <a:ext cx="695325" cy="552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3900" y="2743200"/>
            <a:ext cx="552450" cy="552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2550" y="2743200"/>
            <a:ext cx="695325" cy="552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4075" y="2743200"/>
            <a:ext cx="457200" cy="552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4825" y="395287"/>
            <a:ext cx="112514" cy="857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4825" y="6448425"/>
            <a:ext cx="26860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STREAMLIT FRONTEND • LIVE OPERATIONAL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07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8775" y="2071687"/>
            <a:ext cx="400050" cy="133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2BE65"/>
                </a:solidFill>
                <a:latin typeface="JetBrains Mono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2543175"/>
            <a:ext cx="50482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Aggregates fleet status, real-time disruptions, and active shipments into a unified executive view. Instantly flags high-risk logistics nodes.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5060751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Eliminates reactive firefighting. Rather than auditing static manifests, dispatchers are immediately directed to shipments exceeding acceptable risk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700" y="20955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0575" y="20955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3450" y="20955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38775" y="2119312"/>
            <a:ext cx="66675" cy="666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2428875"/>
            <a:ext cx="1133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Plus Jakarta Sans"/>
              </a:rPr>
              <a:t>SmartRoute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048000"/>
            <a:ext cx="82867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Shipments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3343275"/>
            <a:ext cx="80962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Disruptions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775" y="3638550"/>
            <a:ext cx="80010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Fleet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3933825"/>
            <a:ext cx="84772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Cold 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372100"/>
            <a:ext cx="11334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>
                <a:solidFill>
                  <a:srgbClr val="64748B"/>
                </a:solidFill>
                <a:latin typeface="Inter"/>
              </a:rPr>
              <a:t>IBM Bob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9300" y="2447925"/>
            <a:ext cx="3781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Supply Chain Control Tower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2143125"/>
            <a:ext cx="323850" cy="3238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8000" y="2205037"/>
            <a:ext cx="23402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Single Pane of Glass Telemetry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34125" y="3453110"/>
            <a:ext cx="1527125" cy="2000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34125" y="3710285"/>
            <a:ext cx="1527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Inter ExtraBol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4125" y="3957935"/>
            <a:ext cx="1527125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Immediate Attention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85100" y="3453110"/>
            <a:ext cx="1527125" cy="20002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85100" y="3710285"/>
            <a:ext cx="1527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Inter ExtraBold"/>
              </a:rPr>
              <a:t>5 /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5100" y="3957935"/>
            <a:ext cx="1527125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Active Exposure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36075" y="3453110"/>
            <a:ext cx="1527125" cy="2000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036075" y="3710285"/>
            <a:ext cx="1527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Inter ExtraBold"/>
              </a:rPr>
              <a:t>57.1%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6075" y="3957935"/>
            <a:ext cx="1527125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Capacity In-Use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10325" y="4660701"/>
            <a:ext cx="323850" cy="3238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29425" y="4722614"/>
            <a:ext cx="219027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Proactive Triage Automation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5325" y="2755106"/>
            <a:ext cx="104775" cy="10001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3059906"/>
            <a:ext cx="85725" cy="10001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3355181"/>
            <a:ext cx="104775" cy="10001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5800" y="3650456"/>
            <a:ext cx="114300" cy="10001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3945731"/>
            <a:ext cx="66675" cy="10001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019300" y="3409950"/>
            <a:ext cx="37814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94A3B8"/>
                </a:solidFill>
                <a:latin typeface="JetBrains Mono"/>
              </a:rPr>
              <a:t>TOP AT-RISK SHIPMENTS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2019300" y="3571875"/>
          <a:ext cx="3781423" cy="188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Cargo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Delay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SHP-004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Fresh produce – tropical fruits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87 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delayed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+8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SHP-006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Clothing &amp; textiles – fast fashion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85 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critical_delay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+16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SHP-002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Pharmaceutical vaccines (2°C-8°C)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75 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in_transit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0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SHP-001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Consumer electronics – smartphones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65 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in_transit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0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29387" y="2233612"/>
            <a:ext cx="142875" cy="1428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10337" y="4751189"/>
            <a:ext cx="123825" cy="14287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105025" y="280987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5025" y="3000375"/>
            <a:ext cx="4286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SHIPMENTS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1300" y="2809875"/>
            <a:ext cx="190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C21B"/>
                </a:solidFill>
                <a:latin typeface="Plus Jakarta Sans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1300" y="3000375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AT-RISK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19450" y="2809875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8389"/>
                </a:solidFill>
                <a:latin typeface="Plus Jakarta Sans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19450" y="3000375"/>
            <a:ext cx="381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CRITICAL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8100" y="2809875"/>
            <a:ext cx="523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C21B"/>
                </a:solidFill>
                <a:latin typeface="Plus Jakarta San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8100" y="3000375"/>
            <a:ext cx="523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DISRUPTIONS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9625" y="2809875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9625" y="3000375"/>
            <a:ext cx="381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VEHICLES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48275" y="2809875"/>
            <a:ext cx="523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Plus Jakarta Sans"/>
              </a:rPr>
              <a:t>57.1%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48275" y="3000375"/>
            <a:ext cx="523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UTILISATION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19800" y="2809875"/>
            <a:ext cx="285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8389"/>
                </a:solidFill>
                <a:latin typeface="Plus Jakarta Sa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9800" y="3000375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64748B"/>
                </a:solidFill>
                <a:latin typeface="JetBrains Mono"/>
              </a:rPr>
              <a:t>COLD ALERTS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9300" y="3805237"/>
            <a:ext cx="452288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471588" y="3805237"/>
            <a:ext cx="1224260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695848" y="3805237"/>
            <a:ext cx="837902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533751" y="3805237"/>
            <a:ext cx="781050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314801" y="3805237"/>
            <a:ext cx="485923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019300" y="4233862"/>
            <a:ext cx="452288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71588" y="4233862"/>
            <a:ext cx="122426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95848" y="4233862"/>
            <a:ext cx="83790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33751" y="4233862"/>
            <a:ext cx="78105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14801" y="4233862"/>
            <a:ext cx="485923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019300" y="4662487"/>
            <a:ext cx="452288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71588" y="4662487"/>
            <a:ext cx="122426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95848" y="4662487"/>
            <a:ext cx="83790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533751" y="4662487"/>
            <a:ext cx="78105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14801" y="4662487"/>
            <a:ext cx="485923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019300" y="5091112"/>
            <a:ext cx="452288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471588" y="5091112"/>
            <a:ext cx="122426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695848" y="5091112"/>
            <a:ext cx="83790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533751" y="5091112"/>
            <a:ext cx="78105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314801" y="5091112"/>
            <a:ext cx="485923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019300" y="5443537"/>
            <a:ext cx="452288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471588" y="5443537"/>
            <a:ext cx="122426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695848" y="5443537"/>
            <a:ext cx="83790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533751" y="5443537"/>
            <a:ext cx="78105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5314801" y="5443537"/>
            <a:ext cx="485923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72048" y="3867150"/>
            <a:ext cx="685502" cy="323850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72048" y="4295775"/>
            <a:ext cx="685502" cy="323850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72048" y="4724400"/>
            <a:ext cx="685502" cy="323850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72048" y="5176837"/>
            <a:ext cx="571500" cy="200025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93539" y="371475"/>
            <a:ext cx="1099363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OPERATIONAL UI SCREEN 01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Executive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Control Tower</a:t>
            </a:r>
            <a:r>
              <a:rPr sz="2250" b="1" i="0" u="none">
                <a:solidFill>
                  <a:srgbClr val="FFFFFF"/>
                </a:solidFill>
                <a:latin typeface="Plus Jakarta Sans"/>
              </a:rPr>
              <a:t> UI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646039"/>
            <a:ext cx="5476875" cy="4270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655564"/>
            <a:ext cx="545782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46039"/>
            <a:ext cx="5476875" cy="12352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995612"/>
            <a:ext cx="5476875" cy="1685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795837"/>
            <a:ext cx="5476875" cy="11209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0225" y="1741289"/>
            <a:ext cx="27432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2017514"/>
            <a:ext cx="1333500" cy="38897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7850" y="2017514"/>
            <a:ext cx="4124325" cy="388977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9300" y="2560439"/>
            <a:ext cx="3781425" cy="657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9300" y="4103489"/>
            <a:ext cx="3781425" cy="68044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4075" y="2970014"/>
            <a:ext cx="35718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9300" y="3331964"/>
            <a:ext cx="3781425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9300" y="3684389"/>
            <a:ext cx="3781425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4825" y="6448425"/>
            <a:ext cx="25717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TACTICAL TRIAGE • COMPOSITE SCORE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08 / 12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4475" y="1731764"/>
            <a:ext cx="514350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10325" y="2103239"/>
            <a:ext cx="533066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SHP-004: Fresh Produce (Santos → Rotterdam)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341364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Impacted simultaneously by Cyclone in the Arabian Sea (+5d delay) and Rotterdam Port Strike (+8d delay), jeopardizing perishable goods.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3176587"/>
            <a:ext cx="533066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JetBrains Mono"/>
              </a:rPr>
              <a:t>MATHEMATICAL FACTOR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5376862"/>
            <a:ext cx="50768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Generates natural-language situational debriefs and advises rerouting around the Mediterranean corridor to safeguard refrigerated shelf life.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700" y="178891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0575" y="178891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3450" y="178891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600" y="2131814"/>
            <a:ext cx="1133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Plus Jakarta Sans"/>
              </a:rPr>
              <a:t>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2388989"/>
            <a:ext cx="11334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Inter"/>
              </a:rPr>
              <a:t>Risk Level: 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2569964"/>
            <a:ext cx="11334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Inter"/>
              </a:rPr>
              <a:t>Status: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2750939"/>
            <a:ext cx="11334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64748B"/>
                </a:solidFill>
                <a:latin typeface="Inter"/>
              </a:rPr>
              <a:t>Priority: 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3122414"/>
            <a:ext cx="11334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8BDF8"/>
                </a:solidFill>
                <a:latin typeface="Inter SemiBold"/>
              </a:rPr>
              <a:t>Selected: SHP-004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0325" y="1827014"/>
            <a:ext cx="1543050" cy="2000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10325" y="3405187"/>
            <a:ext cx="507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Inter"/>
              </a:rPr>
              <a:t>Disruption Severity Factor </a:t>
            </a:r>
            <a:r>
              <a:rPr sz="900" b="1" i="0" u="none">
                <a:solidFill>
                  <a:srgbClr val="FF8389"/>
                </a:solidFill>
                <a:latin typeface="Inter"/>
              </a:rPr>
              <a:t>35 / 35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0325" y="3576637"/>
            <a:ext cx="5076825" cy="9525"/>
          </a:xfrm>
          <a:prstGeom prst="rect">
            <a:avLst/>
          </a:prstGeom>
          <a:solidFill>
            <a:srgbClr val="17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0325" y="3643312"/>
            <a:ext cx="507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Inter"/>
              </a:rPr>
              <a:t>Delay Latency Pressure </a:t>
            </a:r>
            <a:r>
              <a:rPr sz="900" b="1" i="0" u="none">
                <a:solidFill>
                  <a:srgbClr val="F1C21B"/>
                </a:solidFill>
                <a:latin typeface="Inter"/>
              </a:rPr>
              <a:t>17 / 25 pts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0325" y="3814762"/>
            <a:ext cx="5076825" cy="9525"/>
          </a:xfrm>
          <a:prstGeom prst="rect">
            <a:avLst/>
          </a:prstGeom>
          <a:solidFill>
            <a:srgbClr val="17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0325" y="3881437"/>
            <a:ext cx="507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Inter"/>
              </a:rPr>
              <a:t>Delivery Deadline Urgency </a:t>
            </a:r>
            <a:r>
              <a:rPr sz="900" b="1" i="0" u="none">
                <a:solidFill>
                  <a:srgbClr val="FF8389"/>
                </a:solidFill>
                <a:latin typeface="Inter"/>
              </a:rPr>
              <a:t>20 / 20 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0325" y="4052887"/>
            <a:ext cx="5076825" cy="9525"/>
          </a:xfrm>
          <a:prstGeom prst="rect">
            <a:avLst/>
          </a:prstGeom>
          <a:solidFill>
            <a:srgbClr val="17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0325" y="4119562"/>
            <a:ext cx="507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Inter"/>
              </a:rPr>
              <a:t>Cargo Priority Factor </a:t>
            </a:r>
            <a:r>
              <a:rPr sz="900" b="1" i="0" u="none">
                <a:solidFill>
                  <a:srgbClr val="38BDF8"/>
                </a:solidFill>
                <a:latin typeface="Inter"/>
              </a:rPr>
              <a:t>10 / 15 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0325" y="4291012"/>
            <a:ext cx="5076825" cy="9525"/>
          </a:xfrm>
          <a:prstGeom prst="rect">
            <a:avLst/>
          </a:prstGeom>
          <a:solidFill>
            <a:srgbClr val="17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0325" y="435768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Inter"/>
              </a:rPr>
              <a:t>Cold-Chain Perishability </a:t>
            </a:r>
            <a:r>
              <a:rPr sz="900" b="1" i="0" u="none">
                <a:solidFill>
                  <a:srgbClr val="42BE65"/>
                </a:solidFill>
                <a:latin typeface="Inter"/>
              </a:rPr>
              <a:t>5 / 5 max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325" y="4976812"/>
            <a:ext cx="323850" cy="3238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29425" y="5038725"/>
            <a:ext cx="253031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watsonx.ai Granite 13B Synthesis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0575" y="2198489"/>
            <a:ext cx="1200150" cy="20002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05025" y="4189214"/>
            <a:ext cx="1685925" cy="1143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8BDF8"/>
                </a:solidFill>
                <a:latin typeface="Inter"/>
              </a:rPr>
              <a:t>watsonx.ai Granite 13B Summary: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5025" y="4332089"/>
            <a:ext cx="3609975" cy="366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1"/>
              </a:lnSpc>
            </a:pPr>
            <a:r>
              <a:rPr sz="712" b="0" i="0" u="none">
                <a:solidFill>
                  <a:srgbClr val="CBD5E1"/>
                </a:solidFill>
                <a:latin typeface="Inter"/>
              </a:rPr>
              <a:t>"Shipment SHP-004 faces compound delays (+13 days) exceeding the 14-day freshness window. Immediate rerouting via Southern Atlantic and vessel reassignment recommended."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1287" y="5067300"/>
            <a:ext cx="161925" cy="1428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019300" y="2150864"/>
            <a:ext cx="2095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SHP-004: Fresh Produce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9300" y="2331839"/>
            <a:ext cx="20955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Hapag-Lloyd • Santos (BR) → Rotterdam (NL)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4075" y="2646164"/>
            <a:ext cx="175736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E2E8F0"/>
                </a:solidFill>
                <a:latin typeface="Inter"/>
              </a:rPr>
              <a:t>Disruption Severity: </a:t>
            </a:r>
            <a:r>
              <a:rPr sz="750" b="1" i="0" u="none">
                <a:solidFill>
                  <a:srgbClr val="FF8389"/>
                </a:solidFill>
                <a:latin typeface="Inter"/>
              </a:rPr>
              <a:t>35/35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8587" y="2646164"/>
            <a:ext cx="175736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E2E8F0"/>
                </a:solidFill>
                <a:latin typeface="Inter"/>
              </a:rPr>
              <a:t>Delay Factor: </a:t>
            </a:r>
            <a:r>
              <a:rPr sz="750" b="1" i="0" u="none">
                <a:solidFill>
                  <a:srgbClr val="F1C21B"/>
                </a:solidFill>
                <a:latin typeface="Inter"/>
              </a:rPr>
              <a:t>17/25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4075" y="2817614"/>
            <a:ext cx="175736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E2E8F0"/>
                </a:solidFill>
                <a:latin typeface="Inter"/>
              </a:rPr>
              <a:t>Deadline Pressure: </a:t>
            </a:r>
            <a:r>
              <a:rPr sz="750" b="1" i="0" u="none">
                <a:solidFill>
                  <a:srgbClr val="FF8389"/>
                </a:solidFill>
                <a:latin typeface="Inter"/>
              </a:rPr>
              <a:t>20/20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8587" y="2817614"/>
            <a:ext cx="175736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E2E8F0"/>
                </a:solidFill>
                <a:latin typeface="Inter"/>
              </a:rPr>
              <a:t>Priority Factor: </a:t>
            </a:r>
            <a:r>
              <a:rPr sz="750" b="1" i="0" u="none">
                <a:solidFill>
                  <a:srgbClr val="38BDF8"/>
                </a:solidFill>
                <a:latin typeface="Inter"/>
              </a:rPr>
              <a:t>10/15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09900" y="3017639"/>
            <a:ext cx="3714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42BE65"/>
                </a:solidFill>
                <a:latin typeface="Inter"/>
              </a:rPr>
              <a:t>5/5 max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05025" y="3398639"/>
            <a:ext cx="552450" cy="1714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686050" y="3427214"/>
            <a:ext cx="13620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E2E8F0"/>
                </a:solidFill>
                <a:latin typeface="Inter"/>
              </a:rPr>
              <a:t>Severe Cyclone – Arabian Sea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05025" y="3751064"/>
            <a:ext cx="361950" cy="1714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495550" y="3779639"/>
            <a:ext cx="13906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E2E8F0"/>
                </a:solidFill>
                <a:latin typeface="Inter"/>
              </a:rPr>
              <a:t>Rotterdam Port Workers' Strike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05025" y="4198739"/>
            <a:ext cx="95250" cy="952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GRANULAR TRIAGE SCREEN 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Deep-Dive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Risk Evaluation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940569"/>
            <a:ext cx="5476875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4321819"/>
            <a:ext cx="5476875" cy="1300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940569"/>
            <a:ext cx="5476875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321819"/>
            <a:ext cx="5476875" cy="1300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950094"/>
            <a:ext cx="5457825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5" y="2312044"/>
            <a:ext cx="5457825" cy="1857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1950094"/>
            <a:ext cx="545782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9825" y="2312044"/>
            <a:ext cx="5457825" cy="1266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5975" y="2035819"/>
            <a:ext cx="21717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075" y="2035819"/>
            <a:ext cx="29718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2597794"/>
            <a:ext cx="5229225" cy="885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825" y="395287"/>
            <a:ext cx="112514" cy="857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4825" y="6448425"/>
            <a:ext cx="2457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ASSET OPTIMIZATION &amp; TELEMETRY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09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4902844"/>
            <a:ext cx="507682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Identifies 2 idle vessels (13,400 available TEU; 224,000 kg). Automatically recommends </a:t>
            </a:r>
            <a:r>
              <a:rPr sz="975" b="0" i="1" u="none">
                <a:solidFill>
                  <a:srgbClr val="94A3B8"/>
                </a:solidFill>
                <a:latin typeface="Inter"/>
              </a:rPr>
              <a:t>MV Southern Cross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(4,300 free TEU) for high-urgency stranded manifests.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4902844"/>
            <a:ext cx="507682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Monitors pharmaceutical vaccine batches. Instantly detects spike beyond the 8°C boundary (peaking at 11.2°C), calculating an excursion risk score of 55/100 for immediate containment.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4475" y="2026294"/>
            <a:ext cx="514350" cy="200025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51400"/>
              </p:ext>
            </p:extLst>
          </p:nvPr>
        </p:nvGraphicFramePr>
        <p:xfrm>
          <a:off x="628650" y="2616844"/>
          <a:ext cx="5229223" cy="11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6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2"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Vessel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Carrier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Avail TEU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1" i="0" u="none">
                          <a:solidFill>
                            <a:srgbClr val="94A3B8"/>
                          </a:solidFill>
                          <a:latin typeface="JetBrains Mono"/>
                        </a:rPr>
                        <a:t>Load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MV Southern Cross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Evergreen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787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4,300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21.8%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MV Rhine Express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Hapag-Lloyd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787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4,500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50.0%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4">
                <a:tc>
                  <a:txBody>
                    <a:bodyPr/>
                    <a:lstStyle/>
                    <a:p>
                      <a:pPr algn="l"/>
                      <a:r>
                        <a:rPr sz="787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MV Pacific Pioneer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CMA CGM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787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>
                          <a:solidFill>
                            <a:srgbClr val="CBD5E1"/>
                          </a:solidFill>
                          <a:latin typeface="Inter"/>
                        </a:rPr>
                        <a:t>3,300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7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61.2%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850" y="4502794"/>
            <a:ext cx="323850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50" y="4564707"/>
            <a:ext cx="219027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Fleet Capacity Optimization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01300" y="2026294"/>
            <a:ext cx="11430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0325" y="4502794"/>
            <a:ext cx="323850" cy="323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9425" y="4564707"/>
            <a:ext cx="22202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Thermal Excursion Telemetry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700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0575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3450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8650" y="2407294"/>
            <a:ext cx="12573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Fleet Capacity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0525" y="2412057"/>
            <a:ext cx="16573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38BDF8"/>
                </a:solidFill>
                <a:latin typeface="JetBrains Mono"/>
              </a:rPr>
              <a:t>13,400 Avail TEU • 224,000 kg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" y="2850207"/>
            <a:ext cx="1478905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07555" y="2850207"/>
            <a:ext cx="1056382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63937" y="2850207"/>
            <a:ext cx="1082724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6661" y="2850207"/>
            <a:ext cx="924222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70884" y="2850207"/>
            <a:ext cx="686990" cy="9525"/>
          </a:xfrm>
          <a:prstGeom prst="rect">
            <a:avLst/>
          </a:prstGeom>
          <a:solidFill>
            <a:srgbClr val="1A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" y="3921769"/>
            <a:ext cx="85725" cy="857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28825" y="3912244"/>
            <a:ext cx="8382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1" i="0" u="none">
                <a:solidFill>
                  <a:srgbClr val="86EFAC"/>
                </a:solidFill>
                <a:latin typeface="Inter"/>
              </a:rPr>
              <a:t>MV Southern Cross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5812" y="4593282"/>
            <a:ext cx="161925" cy="14287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353175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96050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38925" y="2083444"/>
            <a:ext cx="85725" cy="85725"/>
          </a:xfrm>
          <a:prstGeom prst="roundRect">
            <a:avLst>
              <a:gd name="adj" fmla="val 50000"/>
            </a:avLst>
          </a:prstGeom>
          <a:solidFill>
            <a:srgbClr val="1E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4125" y="2407294"/>
            <a:ext cx="1533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Vaccine Temperature Log (°C)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8850" y="2412057"/>
            <a:ext cx="1714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F8389"/>
                </a:solidFill>
                <a:latin typeface="JetBrains Mono"/>
              </a:rPr>
              <a:t>Safe: 2°C – 8°C | Peak: 11.2°C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2664469"/>
            <a:ext cx="5095875" cy="7143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00812" y="4593282"/>
            <a:ext cx="142875" cy="14287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28650" y="3155007"/>
            <a:ext cx="1478905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07555" y="3155007"/>
            <a:ext cx="105638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163937" y="3155007"/>
            <a:ext cx="1082724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46661" y="3155007"/>
            <a:ext cx="92422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70884" y="3155007"/>
            <a:ext cx="68699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8650" y="3459807"/>
            <a:ext cx="1478905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107555" y="3459807"/>
            <a:ext cx="105638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163937" y="3459807"/>
            <a:ext cx="1082724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46661" y="3459807"/>
            <a:ext cx="92422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170884" y="3459807"/>
            <a:ext cx="68699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28650" y="3764607"/>
            <a:ext cx="1478905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107555" y="3764607"/>
            <a:ext cx="105638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163937" y="3764607"/>
            <a:ext cx="1082724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246661" y="3764607"/>
            <a:ext cx="924222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70884" y="3764607"/>
            <a:ext cx="686990" cy="9525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40137" y="2923577"/>
            <a:ext cx="400050" cy="200025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40137" y="3209327"/>
            <a:ext cx="400050" cy="20002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0137" y="3516957"/>
            <a:ext cx="628650" cy="20002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93539" y="371475"/>
            <a:ext cx="1099363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OPERATIONAL UI SCREEN 03 &amp; 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Fleet Optimization &amp;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Cold Chain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3641080"/>
            <a:ext cx="11182350" cy="1724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2197744"/>
            <a:ext cx="3625750" cy="13099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975" y="2197744"/>
            <a:ext cx="3625899" cy="13099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275" y="2197744"/>
            <a:ext cx="3625750" cy="13099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825" y="6448425"/>
            <a:ext cx="26860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AI STACK • MODEL CONTEXT PROTOCOL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10 / 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4350" y="3650605"/>
          <a:ext cx="11163298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0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algn="l"/>
                      <a:r>
                        <a:rPr sz="862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MCP Server 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2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Function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2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Enterprise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get_shipment_risk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Returns 5-factor mathematical score, rating, and factor weights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Zero-friction conversational risk lookups in IBM Bob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recommend_route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Computes alternative corridors excluding active events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Deterministic routing advice with cost &amp; delay trade-offs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recommend_vehicle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Matches distressed manifests to idle capacity &amp; reefer slots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vessel reassignment without dashboard 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explain_shipment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Queries IBM watsonx.ai Granite 13B for plain-English brief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7" b="0" i="0" u="none">
                          <a:solidFill>
                            <a:srgbClr val="CBD5E1"/>
                          </a:solidFill>
                          <a:latin typeface="Inter"/>
                        </a:rPr>
                        <a:t>Plain-English operational clarity for business teams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4850" y="2778769"/>
            <a:ext cx="32257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Guided architecture definition, module refactoring, and automated code generation across the frontend, engine, and MCP tiers.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3000" y="2778769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Full test suite executed with pytest. 100% passing across scoring edge cases, disruption graph traversals, and MCP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1300" y="2778769"/>
            <a:ext cx="3225700" cy="547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Direct REST client (watsonx_client.py) converting mathematical scoring weights into executive narrative summaries.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350" y="3979217"/>
            <a:ext cx="1863774" cy="9525"/>
          </a:xfrm>
          <a:prstGeom prst="rect">
            <a:avLst/>
          </a:prstGeom>
          <a:solidFill>
            <a:srgbClr val="1C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78124" y="3979217"/>
            <a:ext cx="4889301" cy="9525"/>
          </a:xfrm>
          <a:prstGeom prst="rect">
            <a:avLst/>
          </a:prstGeom>
          <a:solidFill>
            <a:srgbClr val="1C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7426" y="3979217"/>
            <a:ext cx="4410223" cy="9525"/>
          </a:xfrm>
          <a:prstGeom prst="rect">
            <a:avLst/>
          </a:prstGeom>
          <a:solidFill>
            <a:srgbClr val="1C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378719"/>
            <a:ext cx="323850" cy="3238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50" y="2440632"/>
            <a:ext cx="169021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IBM Bob SDLC Partner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3000" y="2378719"/>
            <a:ext cx="323850" cy="3238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02100" y="2440632"/>
            <a:ext cx="204025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191 Unit &amp; Integration Tests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1300" y="2378719"/>
            <a:ext cx="323850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0400" y="2440632"/>
            <a:ext cx="20802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IBM watsonx.ai Granite 13B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350" y="4322117"/>
            <a:ext cx="1863774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78124" y="4322117"/>
            <a:ext cx="4889301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7426" y="4322117"/>
            <a:ext cx="4410223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14350" y="4665017"/>
            <a:ext cx="1863774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78124" y="4665017"/>
            <a:ext cx="4889301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67426" y="4665017"/>
            <a:ext cx="4410223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4350" y="5007917"/>
            <a:ext cx="1863774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8124" y="5007917"/>
            <a:ext cx="4889301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67426" y="5007917"/>
            <a:ext cx="4410223" cy="9525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" y="2469207"/>
            <a:ext cx="1428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3488" y="2469207"/>
            <a:ext cx="1428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1787" y="2469207"/>
            <a:ext cx="1428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TECHNOLOGICAL SYNERGY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IBM Bob &amp; watsonx.ai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494508"/>
            <a:ext cx="2695575" cy="11209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2494508"/>
            <a:ext cx="2695575" cy="11209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2494508"/>
            <a:ext cx="2695575" cy="11209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494508"/>
            <a:ext cx="2695575" cy="11209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3767881"/>
            <a:ext cx="5476875" cy="13004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767881"/>
            <a:ext cx="5476875" cy="13004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395287"/>
            <a:ext cx="102989" cy="85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4825" y="6448425"/>
            <a:ext cx="21717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STRATEGIC VALUE • RETURN ON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11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075533"/>
            <a:ext cx="22955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Disruption Discovery vs. manual spreadsheet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3775" y="3075533"/>
            <a:ext cx="22955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Per avoided breakdown via early alternative route booking.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075533"/>
            <a:ext cx="22955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Repurposes idle vessels into emergency cover inventory.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1625" y="3075533"/>
            <a:ext cx="22955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Immediate containment on pharmaceutical thermal breaches.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4348906"/>
            <a:ext cx="504825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Single pure-Python stack requiring no heavy external databases, map tile subscriptions, or complex message brokers. Boots instantly in under 3 seconds in any cloud or on-prem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4348906"/>
            <a:ext cx="504825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Supply chain coordinators can execute deep fleet queries, generate routing options, and inspect container health directly in natural language through the IBM Bob assistant.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675483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50" y="2737395"/>
            <a:ext cx="88011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75% Faster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775" y="2675483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52875" y="2737395"/>
            <a:ext cx="10301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&gt;$40k Saved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675483"/>
            <a:ext cx="323850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800" y="2737395"/>
            <a:ext cx="133016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+28% Fleet Load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1625" y="2675483"/>
            <a:ext cx="323850" cy="323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10725" y="2737395"/>
            <a:ext cx="106013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Zero Spoilage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" y="3948856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52525" y="4010769"/>
            <a:ext cx="293036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Lightweight Zero-Broker Deployment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948856"/>
            <a:ext cx="323850" cy="3238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8000" y="4010769"/>
            <a:ext cx="26703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Conversational MCP Orchestration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337" y="2765970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4262" y="2765970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3662" y="2765970"/>
            <a:ext cx="1619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2112" y="2765970"/>
            <a:ext cx="1428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912" y="4039344"/>
            <a:ext cx="1428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0337" y="4039344"/>
            <a:ext cx="18097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014" y="371475"/>
            <a:ext cx="1100316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BUSINESS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Impact &amp; Strategic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Innovation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48187"/>
            <a:ext cx="1118235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2405062"/>
            <a:ext cx="5476875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405062"/>
            <a:ext cx="5476875" cy="1971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6324600"/>
            <a:ext cx="1118235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395287"/>
            <a:ext cx="93464" cy="85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4825" y="6448425"/>
            <a:ext cx="2914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IBM BOB AI INNOVATION HACKATHON 2026 • TEAM PI-NANT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4225" y="6448425"/>
            <a:ext cx="742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64748B"/>
                </a:solidFill>
                <a:latin typeface="JetBrains Mono"/>
              </a:rPr>
              <a:t>SLIDE 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6225" y="4781550"/>
            <a:ext cx="3571875" cy="13266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r>
              <a:rPr sz="862" b="0" i="0" u="none" dirty="0">
                <a:solidFill>
                  <a:srgbClr val="38BDF8"/>
                </a:solidFill>
                <a:latin typeface="JetBrains Mono"/>
              </a:rPr>
              <a:t> github.com/Patelprincekumar2007/</a:t>
            </a:r>
            <a:r>
              <a:rPr lang="en-IN" sz="862" dirty="0">
                <a:solidFill>
                  <a:srgbClr val="38BDF8"/>
                </a:solidFill>
                <a:latin typeface="JetBrains Mono"/>
              </a:rPr>
              <a:t>bob-ai-hackathon-PI-NANT</a:t>
            </a:r>
            <a:endParaRPr sz="862" b="0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900" y="4729162"/>
            <a:ext cx="685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JetBrains Mono"/>
              </a:rPr>
              <a:t>TEAM PI-NANT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881562"/>
            <a:ext cx="3448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8FAFC"/>
                </a:solidFill>
                <a:latin typeface="Inter"/>
              </a:rPr>
              <a:t>Kashyap Nasit • Patel Princekumar • Patel Rudrakumar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6225" y="4810125"/>
            <a:ext cx="104775" cy="10953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586037"/>
            <a:ext cx="32385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50" y="2647950"/>
            <a:ext cx="223027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Live Demonstration Runbook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300513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1. Control Tower: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Audit real-time KPI overview &amp; critical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21468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2. Shipment Selection: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Inspect SHP-004 fresh produce risk (87/100).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42423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3. Disruption Discovery: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Correlate Arabian Cyclone + Port Strike.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363378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4. Route &amp; Fleet Cover: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Assign idle vessel </a:t>
            </a:r>
            <a:r>
              <a:rPr sz="937" b="0" i="1" u="none">
                <a:solidFill>
                  <a:srgbClr val="CBD5E1"/>
                </a:solidFill>
                <a:latin typeface="Inter"/>
              </a:rPr>
              <a:t>MV Southern Cross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384333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5. Cold-Chain Triage: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Inspect vaccine temperature excursion curve.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052887"/>
            <a:ext cx="507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6. watsonx.ai &amp; Bob MCP: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Query Granite 13B in natural language.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2586037"/>
            <a:ext cx="323850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29425" y="2647950"/>
            <a:ext cx="1800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Key Judging Takeaways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3005137"/>
            <a:ext cx="5076825" cy="1428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End-to-End Visibility: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Unified risk detection without manual portal hops.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214687"/>
            <a:ext cx="5076825" cy="1428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Transparent AI: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5-factor deterministic math + watsonx Granite 13B.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424237"/>
            <a:ext cx="5076825" cy="1428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Production-Ready Quality: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191 unit tests passing, zero-broker setup.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3633787"/>
            <a:ext cx="5076825" cy="1428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CBD5E1"/>
                </a:solidFill>
                <a:latin typeface="Inter"/>
              </a:rPr>
              <a:t>Deep IBM Integration: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 Built with Bob SDLC, runs with watsonx.ai &amp; MCP.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387" y="2676525"/>
            <a:ext cx="1047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1287" y="2676525"/>
            <a:ext cx="16192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3021806"/>
            <a:ext cx="10477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3231356"/>
            <a:ext cx="104775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3440906"/>
            <a:ext cx="10477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3650456"/>
            <a:ext cx="104775" cy="123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4489" y="371475"/>
            <a:ext cx="1101268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7" b="0" i="0" u="none">
                <a:solidFill>
                  <a:srgbClr val="38BDF8"/>
                </a:solidFill>
                <a:latin typeface="JetBrains Mono SemiBold"/>
              </a:rPr>
              <a:t>HACKATHON 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825" y="5619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Conclusion &amp; Live </a:t>
            </a:r>
            <a:r>
              <a:rPr sz="2250" b="1" i="0" u="none">
                <a:solidFill>
                  <a:srgbClr val="38BDF8"/>
                </a:solidFill>
                <a:latin typeface="Plus Jakarta Sans"/>
              </a:rPr>
              <a:t>Demo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825" y="10382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357663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200" y="3501032"/>
            <a:ext cx="1008697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E2E8F0"/>
                </a:solidFill>
                <a:latin typeface="Inter"/>
              </a:rPr>
              <a:t>https://media.istockphoto.com/id/1416040835/photo/aerial-view-of-a-large-loaded-container-cargo-ship-in-motion.jpg?s=612x612&amp;w=0&amp;k=20&amp;c=ZP5DjN5ctgeefdvOBTHhx0h39gSsr2POQ4iw5ZuZRIU=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907631"/>
            <a:ext cx="1008697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371475"/>
            <a:ext cx="116871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825" y="847725"/>
            <a:ext cx="11182350" cy="9525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1829</Words>
  <Application>Microsoft Office PowerPoint</Application>
  <PresentationFormat>Widescreen</PresentationFormat>
  <Paragraphs>278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Inter</vt:lpstr>
      <vt:lpstr>Inter ExtraBold</vt:lpstr>
      <vt:lpstr>Inter SemiBold</vt:lpstr>
      <vt:lpstr>JetBrains Mono</vt:lpstr>
      <vt:lpstr>JetBrains Mono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24CS073 PRINCEKUMAR PATEL</cp:lastModifiedBy>
  <cp:revision>4</cp:revision>
  <dcterms:created xsi:type="dcterms:W3CDTF">2013-01-27T09:14:16Z</dcterms:created>
  <dcterms:modified xsi:type="dcterms:W3CDTF">2026-09-15T15:41:45Z</dcterms:modified>
  <cp:category/>
</cp:coreProperties>
</file>